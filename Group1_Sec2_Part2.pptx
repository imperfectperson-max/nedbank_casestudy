
<file path=[Content_Types].xml><?xml version="1.0" encoding="utf-8"?>
<Types xmlns="http://schemas.openxmlformats.org/package/2006/content-types">
  <Default ContentType="image/jpeg" Extension="jpg"/>
  <Default ContentType="application/vnd.openxmlformats-officedocument.spreadsheetml.sheet" Extension="xlsx"/>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package.core-properties+xml" PartName="/docProps/core.xml"/>
  <Override ContentType="application/vnd.openxmlformats-officedocument.presentationml.presentation.main+xml" PartName="/ppt/presentation.xml"/>
  <Override ContentType="application/vnd.ms-office.chartcolorstyle+xml" PartName="/ppt/charts/colors1.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1.xml"/>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custom-properties+xml" PartName="/docProps/custom.xml"/>
  <Override ContentType="application/vnd.openxmlformats-officedocument.themeOverride+xml" PartName="/ppt/theme/themeOverride1.xml"/>
  <Override ContentType="application/binary" PartName="/ppt/metadata"/>
  <Override ContentType="application/vnd.openxmlformats-officedocument.presentationml.notesMaster+xml" PartName="/ppt/notesMasters/notesMaster1.xml"/>
  <Override ContentType="application/vnd.ms-office.chartstyle+xml" PartName="/ppt/charts/style1.xml"/>
  <Override ContentType="application/vnd.openxmlformats-officedocument.presentationml.presProps+xml" PartName="/ppt/pres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Lst>
  <p:sldSz cy="6858000" cx="12192000"/>
  <p:notesSz cx="6858000" cy="9144000"/>
  <p:embeddedFontLst>
    <p:embeddedFont>
      <p:font typeface="Libre Franklin"/>
      <p:regular r:id="rId11"/>
      <p:bold r:id="rId12"/>
      <p:italic r:id="rId13"/>
      <p:boldItalic r:id="rId1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5" roundtripDataSignature="AMtx7mgne2JuhtXsrRNiFKWyLY4Z7TWjI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font" Target="fonts/LibreFranklin-regular.fntdata"/><Relationship Id="rId10" Type="http://schemas.openxmlformats.org/officeDocument/2006/relationships/slide" Target="slides/slide6.xml"/><Relationship Id="rId13" Type="http://schemas.openxmlformats.org/officeDocument/2006/relationships/font" Target="fonts/LibreFranklin-italic.fntdata"/><Relationship Id="rId12" Type="http://schemas.openxmlformats.org/officeDocument/2006/relationships/font" Target="fonts/LibreFranklin-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customschemas.google.com/relationships/presentationmetadata" Target="metadata"/><Relationship Id="rId14" Type="http://schemas.openxmlformats.org/officeDocument/2006/relationships/font" Target="fonts/LibreFranklin-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themeOverride" Target="../theme/themeOverride1.xml"/><Relationship Id="rId4"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dirty="0">
                <a:solidFill>
                  <a:schemeClr val="tx2">
                    <a:lumMod val="75000"/>
                  </a:schemeClr>
                </a:solidFill>
              </a:rPr>
              <a:t>Relationship between PD and RAROC</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tx>
            <c:strRef>
              <c:f>'Question 2.5'!$AI$5</c:f>
              <c:strCache>
                <c:ptCount val="1"/>
                <c:pt idx="0">
                  <c:v>Corresponding RAROC</c:v>
                </c:pt>
              </c:strCache>
            </c:strRef>
          </c:tx>
          <c:spPr>
            <a:ln w="19050" cap="rnd">
              <a:solidFill>
                <a:schemeClr val="accent1"/>
              </a:solidFill>
              <a:round/>
            </a:ln>
            <a:effectLst/>
          </c:spPr>
          <c:marker>
            <c:symbol val="circle"/>
            <c:size val="5"/>
            <c:spPr>
              <a:solidFill>
                <a:schemeClr val="accent1"/>
              </a:solidFill>
              <a:ln w="9525">
                <a:solidFill>
                  <a:schemeClr val="accent1"/>
                </a:solidFill>
              </a:ln>
              <a:effectLst/>
            </c:spPr>
          </c:marker>
          <c:xVal>
            <c:numRef>
              <c:f>'Question 2.5'!$AH$6:$AH$16</c:f>
              <c:numCache>
                <c:formatCode>0.00%</c:formatCode>
                <c:ptCount val="11"/>
                <c:pt idx="0" formatCode="0.000%">
                  <c:v>5.0000000000000002E-5</c:v>
                </c:pt>
                <c:pt idx="1">
                  <c:v>1E-4</c:v>
                </c:pt>
                <c:pt idx="2">
                  <c:v>5.0000000000000001E-4</c:v>
                </c:pt>
                <c:pt idx="3">
                  <c:v>6.7000000000000002E-3</c:v>
                </c:pt>
                <c:pt idx="4">
                  <c:v>1.5299999999999999E-2</c:v>
                </c:pt>
                <c:pt idx="5">
                  <c:v>0.02</c:v>
                </c:pt>
                <c:pt idx="6">
                  <c:v>3.5700000000000003E-2</c:v>
                </c:pt>
                <c:pt idx="7">
                  <c:v>5.5500000000000001E-2</c:v>
                </c:pt>
                <c:pt idx="8">
                  <c:v>8.7300000000000003E-2</c:v>
                </c:pt>
                <c:pt idx="9">
                  <c:v>0.1011</c:v>
                </c:pt>
                <c:pt idx="10">
                  <c:v>0.157</c:v>
                </c:pt>
              </c:numCache>
            </c:numRef>
          </c:xVal>
          <c:yVal>
            <c:numRef>
              <c:f>'Question 2.5'!$AI$6:$AI$16</c:f>
              <c:numCache>
                <c:formatCode>0%</c:formatCode>
                <c:ptCount val="11"/>
                <c:pt idx="0">
                  <c:v>0.23</c:v>
                </c:pt>
                <c:pt idx="1">
                  <c:v>0.23</c:v>
                </c:pt>
                <c:pt idx="2">
                  <c:v>0.23</c:v>
                </c:pt>
                <c:pt idx="3">
                  <c:v>0.21</c:v>
                </c:pt>
                <c:pt idx="4">
                  <c:v>0.18</c:v>
                </c:pt>
                <c:pt idx="5">
                  <c:v>0.16</c:v>
                </c:pt>
                <c:pt idx="6">
                  <c:v>0.11</c:v>
                </c:pt>
                <c:pt idx="7">
                  <c:v>0.05</c:v>
                </c:pt>
                <c:pt idx="8">
                  <c:v>-0.06</c:v>
                </c:pt>
                <c:pt idx="9">
                  <c:v>-0.1</c:v>
                </c:pt>
                <c:pt idx="10">
                  <c:v>-0.28000000000000003</c:v>
                </c:pt>
              </c:numCache>
            </c:numRef>
          </c:yVal>
          <c:smooth val="0"/>
          <c:extLst>
            <c:ext xmlns:c16="http://schemas.microsoft.com/office/drawing/2014/chart" uri="{C3380CC4-5D6E-409C-BE32-E72D297353CC}">
              <c16:uniqueId val="{00000000-C5CA-4BE0-B774-969443DD14E8}"/>
            </c:ext>
          </c:extLst>
        </c:ser>
        <c:dLbls>
          <c:showLegendKey val="0"/>
          <c:showVal val="0"/>
          <c:showCatName val="0"/>
          <c:showSerName val="0"/>
          <c:showPercent val="0"/>
          <c:showBubbleSize val="0"/>
        </c:dLbls>
        <c:axId val="9774735"/>
        <c:axId val="9781935"/>
      </c:scatterChart>
      <c:valAx>
        <c:axId val="9774735"/>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ZA"/>
                  <a:t>Annual PD Values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781935"/>
        <c:crosses val="autoZero"/>
        <c:crossBetween val="midCat"/>
      </c:valAx>
      <c:valAx>
        <c:axId val="9781935"/>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ZA"/>
                  <a:t>RAROC</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774735"/>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jpg"/><Relationship Id="rId3" Type="http://schemas.openxmlformats.org/officeDocument/2006/relationships/image" Target="../media/image6.png"/><Relationship Id="rId4" Type="http://schemas.openxmlformats.org/officeDocument/2006/relationships/image" Target="../media/image1.png"/><Relationship Id="rId5" Type="http://schemas.openxmlformats.org/officeDocument/2006/relationships/image" Target="../media/image8.png"/><Relationship Id="rId6" Type="http://schemas.openxmlformats.org/officeDocument/2006/relationships/image" Target="../media/image9.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jpg"/><Relationship Id="rId3" Type="http://schemas.openxmlformats.org/officeDocument/2006/relationships/image" Target="../media/image8.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jpg"/><Relationship Id="rId3" Type="http://schemas.openxmlformats.org/officeDocument/2006/relationships/image" Target="../media/image7.png"/><Relationship Id="rId4"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jpg"/><Relationship Id="rId3" Type="http://schemas.openxmlformats.org/officeDocument/2006/relationships/image" Target="../media/image13.png"/><Relationship Id="rId4" Type="http://schemas.openxmlformats.org/officeDocument/2006/relationships/image" Target="../media/image8.png"/><Relationship Id="rId5" Type="http://schemas.openxmlformats.org/officeDocument/2006/relationships/image" Target="../media/image1.png"/><Relationship Id="rId6" Type="http://schemas.openxmlformats.org/officeDocument/2006/relationships/image" Target="../media/image9.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jpg"/><Relationship Id="rId3" Type="http://schemas.openxmlformats.org/officeDocument/2006/relationships/image" Target="../media/image8.pn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jpg"/><Relationship Id="rId3" Type="http://schemas.openxmlformats.org/officeDocument/2006/relationships/image" Target="../media/image7.png"/><Relationship Id="rId4"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jpg"/><Relationship Id="rId3" Type="http://schemas.openxmlformats.org/officeDocument/2006/relationships/image" Target="../media/image17.png"/><Relationship Id="rId4"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1" name="Shape 11"/>
        <p:cNvGrpSpPr/>
        <p:nvPr/>
      </p:nvGrpSpPr>
      <p:grpSpPr>
        <a:xfrm>
          <a:off x="0" y="0"/>
          <a:ext cx="0" cy="0"/>
          <a:chOff x="0" y="0"/>
          <a:chExt cx="0" cy="0"/>
        </a:xfrm>
      </p:grpSpPr>
      <p:pic>
        <p:nvPicPr>
          <p:cNvPr descr="A person with curly hair wearing glasses&#10;&#10;Description automatically generated" id="12" name="Google Shape;12;p8"/>
          <p:cNvPicPr preferRelativeResize="0"/>
          <p:nvPr/>
        </p:nvPicPr>
        <p:blipFill rotWithShape="1">
          <a:blip r:embed="rId2">
            <a:alphaModFix/>
          </a:blip>
          <a:srcRect b="0" l="0" r="0" t="0"/>
          <a:stretch/>
        </p:blipFill>
        <p:spPr>
          <a:xfrm>
            <a:off x="0" y="7729"/>
            <a:ext cx="12192000" cy="6850271"/>
          </a:xfrm>
          <a:prstGeom prst="rect">
            <a:avLst/>
          </a:prstGeom>
          <a:noFill/>
          <a:ln>
            <a:noFill/>
          </a:ln>
        </p:spPr>
      </p:pic>
      <p:pic>
        <p:nvPicPr>
          <p:cNvPr descr="A green letter b on a black background&#10;&#10;Description automatically generated" id="13" name="Google Shape;13;p8"/>
          <p:cNvPicPr preferRelativeResize="0"/>
          <p:nvPr/>
        </p:nvPicPr>
        <p:blipFill rotWithShape="1">
          <a:blip r:embed="rId3">
            <a:alphaModFix/>
          </a:blip>
          <a:srcRect b="0" l="0" r="0" t="0"/>
          <a:stretch/>
        </p:blipFill>
        <p:spPr>
          <a:xfrm>
            <a:off x="9971275" y="5467238"/>
            <a:ext cx="1554418" cy="199650"/>
          </a:xfrm>
          <a:prstGeom prst="rect">
            <a:avLst/>
          </a:prstGeom>
          <a:noFill/>
          <a:ln>
            <a:noFill/>
          </a:ln>
        </p:spPr>
      </p:pic>
      <p:pic>
        <p:nvPicPr>
          <p:cNvPr id="14" name="Google Shape;14;p8"/>
          <p:cNvPicPr preferRelativeResize="0"/>
          <p:nvPr/>
        </p:nvPicPr>
        <p:blipFill rotWithShape="1">
          <a:blip r:embed="rId4">
            <a:alphaModFix/>
          </a:blip>
          <a:srcRect b="0" l="0" r="0" t="0"/>
          <a:stretch/>
        </p:blipFill>
        <p:spPr>
          <a:xfrm>
            <a:off x="666307" y="5467238"/>
            <a:ext cx="2778642" cy="238169"/>
          </a:xfrm>
          <a:prstGeom prst="rect">
            <a:avLst/>
          </a:prstGeom>
          <a:noFill/>
          <a:ln>
            <a:noFill/>
          </a:ln>
        </p:spPr>
      </p:pic>
      <p:sp>
        <p:nvSpPr>
          <p:cNvPr id="15" name="Google Shape;15;p8"/>
          <p:cNvSpPr txBox="1"/>
          <p:nvPr/>
        </p:nvSpPr>
        <p:spPr>
          <a:xfrm>
            <a:off x="574157" y="5819245"/>
            <a:ext cx="5911703" cy="20005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700" u="none" cap="none" strike="noStrike">
                <a:solidFill>
                  <a:schemeClr val="lt1"/>
                </a:solidFill>
                <a:latin typeface="Libre Franklin"/>
                <a:ea typeface="Libre Franklin"/>
                <a:cs typeface="Libre Franklin"/>
                <a:sym typeface="Libre Franklin"/>
              </a:rPr>
              <a:t>Nedbank Ltd Reg No 1951/000009/06. Licenced financial services and registered credit provider (NCRCP16).</a:t>
            </a:r>
            <a:endParaRPr/>
          </a:p>
        </p:txBody>
      </p:sp>
      <p:sp>
        <p:nvSpPr>
          <p:cNvPr id="16" name="Google Shape;16;p8"/>
          <p:cNvSpPr txBox="1"/>
          <p:nvPr>
            <p:ph idx="1" type="body"/>
          </p:nvPr>
        </p:nvSpPr>
        <p:spPr>
          <a:xfrm>
            <a:off x="574156" y="4813595"/>
            <a:ext cx="10951533" cy="341632"/>
          </a:xfrm>
          <a:prstGeom prst="rect">
            <a:avLst/>
          </a:prstGeom>
          <a:noFill/>
          <a:ln>
            <a:noFill/>
          </a:ln>
        </p:spPr>
        <p:txBody>
          <a:bodyPr anchorCtr="0" anchor="t" bIns="45700" lIns="91425" spcFirstLastPara="1" rIns="91425" wrap="square" tIns="45700">
            <a:sp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Libre Franklin"/>
                <a:ea typeface="Libre Franklin"/>
                <a:cs typeface="Libre Franklin"/>
                <a:sym typeface="Libre Franklin"/>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descr="A green and white logo&#10;&#10;Description automatically generated" id="17" name="Google Shape;17;p8"/>
          <p:cNvPicPr preferRelativeResize="0"/>
          <p:nvPr/>
        </p:nvPicPr>
        <p:blipFill rotWithShape="1">
          <a:blip r:embed="rId5">
            <a:alphaModFix/>
          </a:blip>
          <a:srcRect b="0" l="0" r="0" t="0"/>
          <a:stretch/>
        </p:blipFill>
        <p:spPr>
          <a:xfrm>
            <a:off x="10185547" y="666307"/>
            <a:ext cx="1106230" cy="1133544"/>
          </a:xfrm>
          <a:prstGeom prst="rect">
            <a:avLst/>
          </a:prstGeom>
          <a:noFill/>
          <a:ln>
            <a:noFill/>
          </a:ln>
        </p:spPr>
      </p:pic>
      <p:sp>
        <p:nvSpPr>
          <p:cNvPr id="18" name="Google Shape;18;p8"/>
          <p:cNvSpPr txBox="1"/>
          <p:nvPr>
            <p:ph type="title"/>
          </p:nvPr>
        </p:nvSpPr>
        <p:spPr>
          <a:xfrm>
            <a:off x="574157" y="1973086"/>
            <a:ext cx="10951534" cy="1311128"/>
          </a:xfrm>
          <a:prstGeom prst="rect">
            <a:avLst/>
          </a:prstGeom>
          <a:noFill/>
          <a:ln>
            <a:noFill/>
          </a:ln>
        </p:spPr>
        <p:txBody>
          <a:bodyPr anchorCtr="0" anchor="t" bIns="45700" lIns="91425" spcFirstLastPara="1" rIns="91425" wrap="square" tIns="45700">
            <a:spAutoFit/>
          </a:bodyPr>
          <a:lstStyle>
            <a:lvl1pPr lvl="0" algn="l">
              <a:lnSpc>
                <a:spcPct val="90000"/>
              </a:lnSpc>
              <a:spcBef>
                <a:spcPts val="0"/>
              </a:spcBef>
              <a:spcAft>
                <a:spcPts val="0"/>
              </a:spcAft>
              <a:buClr>
                <a:schemeClr val="lt1"/>
              </a:buClr>
              <a:buSzPts val="4400"/>
              <a:buFont typeface="Libre Franklin"/>
              <a:buNone/>
              <a:defRPr b="1">
                <a:solidFill>
                  <a:schemeClr val="lt1"/>
                </a:solidFill>
                <a:latin typeface="Libre Franklin"/>
                <a:ea typeface="Libre Franklin"/>
                <a:cs typeface="Libre Franklin"/>
                <a:sym typeface="Libre Frankli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9" name="Google Shape;19;p8"/>
          <p:cNvPicPr preferRelativeResize="0"/>
          <p:nvPr/>
        </p:nvPicPr>
        <p:blipFill rotWithShape="1">
          <a:blip r:embed="rId6">
            <a:alphaModFix/>
          </a:blip>
          <a:srcRect b="0" l="0" r="0" t="0"/>
          <a:stretch/>
        </p:blipFill>
        <p:spPr>
          <a:xfrm>
            <a:off x="558989" y="1533245"/>
            <a:ext cx="214635" cy="293711"/>
          </a:xfrm>
          <a:prstGeom prst="rect">
            <a:avLst/>
          </a:prstGeom>
          <a:noFill/>
          <a:ln>
            <a:noFill/>
          </a:ln>
        </p:spPr>
      </p:pic>
      <p:sp>
        <p:nvSpPr>
          <p:cNvPr id="20" name="Google Shape;20;p8"/>
          <p:cNvSpPr txBox="1"/>
          <p:nvPr>
            <p:ph idx="2" type="body"/>
          </p:nvPr>
        </p:nvSpPr>
        <p:spPr>
          <a:xfrm>
            <a:off x="773623" y="1533245"/>
            <a:ext cx="10752067" cy="341632"/>
          </a:xfrm>
          <a:prstGeom prst="rect">
            <a:avLst/>
          </a:prstGeom>
          <a:noFill/>
          <a:ln>
            <a:noFill/>
          </a:ln>
        </p:spPr>
        <p:txBody>
          <a:bodyPr anchorCtr="0" anchor="t" bIns="45700" lIns="91425" spcFirstLastPara="1" rIns="91425" wrap="square" tIns="45700">
            <a:spAutoFit/>
          </a:bodyPr>
          <a:lstStyle>
            <a:lvl1pPr indent="-228600" lvl="0" marL="457200" algn="l">
              <a:lnSpc>
                <a:spcPct val="90000"/>
              </a:lnSpc>
              <a:spcBef>
                <a:spcPts val="1000"/>
              </a:spcBef>
              <a:spcAft>
                <a:spcPts val="0"/>
              </a:spcAft>
              <a:buClr>
                <a:schemeClr val="lt1"/>
              </a:buClr>
              <a:buSzPts val="1800"/>
              <a:buNone/>
              <a:defRPr sz="1800">
                <a:solidFill>
                  <a:schemeClr val="lt1"/>
                </a:solidFill>
                <a:latin typeface="Libre Franklin"/>
                <a:ea typeface="Libre Franklin"/>
                <a:cs typeface="Libre Franklin"/>
                <a:sym typeface="Libre Franklin"/>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1" name="Shape 21"/>
        <p:cNvGrpSpPr/>
        <p:nvPr/>
      </p:nvGrpSpPr>
      <p:grpSpPr>
        <a:xfrm>
          <a:off x="0" y="0"/>
          <a:ext cx="0" cy="0"/>
          <a:chOff x="0" y="0"/>
          <a:chExt cx="0" cy="0"/>
        </a:xfrm>
      </p:grpSpPr>
      <p:pic>
        <p:nvPicPr>
          <p:cNvPr descr="A white rectangle with blue lines&#10;&#10;Description automatically generated" id="22" name="Google Shape;22;p9"/>
          <p:cNvPicPr preferRelativeResize="0"/>
          <p:nvPr/>
        </p:nvPicPr>
        <p:blipFill rotWithShape="1">
          <a:blip r:embed="rId2">
            <a:alphaModFix/>
          </a:blip>
          <a:srcRect b="0" l="0" r="0" t="0"/>
          <a:stretch/>
        </p:blipFill>
        <p:spPr>
          <a:xfrm>
            <a:off x="0" y="3863"/>
            <a:ext cx="12192000" cy="6850271"/>
          </a:xfrm>
          <a:prstGeom prst="rect">
            <a:avLst/>
          </a:prstGeom>
          <a:noFill/>
          <a:ln>
            <a:noFill/>
          </a:ln>
        </p:spPr>
      </p:pic>
      <p:sp>
        <p:nvSpPr>
          <p:cNvPr id="23" name="Google Shape;23;p9"/>
          <p:cNvSpPr txBox="1"/>
          <p:nvPr>
            <p:ph type="title"/>
          </p:nvPr>
        </p:nvSpPr>
        <p:spPr>
          <a:xfrm>
            <a:off x="514350" y="378102"/>
            <a:ext cx="11163299" cy="369332"/>
          </a:xfrm>
          <a:prstGeom prst="rect">
            <a:avLst/>
          </a:prstGeom>
          <a:noFill/>
          <a:ln>
            <a:noFill/>
          </a:ln>
        </p:spPr>
        <p:txBody>
          <a:bodyPr anchorCtr="0" anchor="ctr" bIns="45700" lIns="91425" spcFirstLastPara="1" rIns="91425" wrap="square" tIns="45700">
            <a:spAutoFit/>
          </a:bodyPr>
          <a:lstStyle>
            <a:lvl1pPr lvl="0" algn="l">
              <a:lnSpc>
                <a:spcPct val="90000"/>
              </a:lnSpc>
              <a:spcBef>
                <a:spcPts val="0"/>
              </a:spcBef>
              <a:spcAft>
                <a:spcPts val="0"/>
              </a:spcAft>
              <a:buClr>
                <a:srgbClr val="006241"/>
              </a:buClr>
              <a:buSzPts val="2000"/>
              <a:buFont typeface="Libre Franklin"/>
              <a:buNone/>
              <a:defRPr b="1" sz="2000">
                <a:solidFill>
                  <a:srgbClr val="006241"/>
                </a:solidFill>
                <a:latin typeface="Libre Franklin"/>
                <a:ea typeface="Libre Franklin"/>
                <a:cs typeface="Libre Franklin"/>
                <a:sym typeface="Libre Frankli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descr="A green and white logo&#10;&#10;Description automatically generated" id="24" name="Google Shape;24;p9"/>
          <p:cNvPicPr preferRelativeResize="0"/>
          <p:nvPr/>
        </p:nvPicPr>
        <p:blipFill rotWithShape="1">
          <a:blip r:embed="rId3">
            <a:alphaModFix/>
          </a:blip>
          <a:srcRect b="0" l="0" r="0" t="0"/>
          <a:stretch/>
        </p:blipFill>
        <p:spPr>
          <a:xfrm>
            <a:off x="11317216" y="193436"/>
            <a:ext cx="360433" cy="369332"/>
          </a:xfrm>
          <a:prstGeom prst="rect">
            <a:avLst/>
          </a:prstGeom>
          <a:noFill/>
          <a:ln>
            <a:noFill/>
          </a:ln>
        </p:spPr>
      </p:pic>
      <p:sp>
        <p:nvSpPr>
          <p:cNvPr id="25" name="Google Shape;25;p9"/>
          <p:cNvSpPr txBox="1"/>
          <p:nvPr>
            <p:ph idx="1" type="body"/>
          </p:nvPr>
        </p:nvSpPr>
        <p:spPr>
          <a:xfrm>
            <a:off x="514351" y="6474618"/>
            <a:ext cx="5581649" cy="244682"/>
          </a:xfrm>
          <a:prstGeom prst="rect">
            <a:avLst/>
          </a:prstGeom>
          <a:noFill/>
          <a:ln>
            <a:noFill/>
          </a:ln>
        </p:spPr>
        <p:txBody>
          <a:bodyPr anchorCtr="0" anchor="t" bIns="45700" lIns="91425" spcFirstLastPara="1" rIns="91425" wrap="square" tIns="45700">
            <a:spAutoFit/>
          </a:bodyPr>
          <a:lstStyle>
            <a:lvl1pPr indent="-228600" lvl="0" marL="457200" algn="l">
              <a:lnSpc>
                <a:spcPct val="90000"/>
              </a:lnSpc>
              <a:spcBef>
                <a:spcPts val="1000"/>
              </a:spcBef>
              <a:spcAft>
                <a:spcPts val="0"/>
              </a:spcAft>
              <a:buClr>
                <a:srgbClr val="006241"/>
              </a:buClr>
              <a:buSzPts val="1050"/>
              <a:buNone/>
              <a:defRPr sz="1050">
                <a:solidFill>
                  <a:srgbClr val="006241"/>
                </a:solidFill>
                <a:latin typeface="Libre Franklin"/>
                <a:ea typeface="Libre Franklin"/>
                <a:cs typeface="Libre Franklin"/>
                <a:sym typeface="Libre Franklin"/>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descr="A green rectangle with white text&#10;&#10;Description automatically generated" id="26" name="Google Shape;26;p9"/>
          <p:cNvPicPr preferRelativeResize="0"/>
          <p:nvPr/>
        </p:nvPicPr>
        <p:blipFill rotWithShape="1">
          <a:blip r:embed="rId4">
            <a:alphaModFix/>
          </a:blip>
          <a:srcRect b="0" l="0" r="0" t="0"/>
          <a:stretch/>
        </p:blipFill>
        <p:spPr>
          <a:xfrm>
            <a:off x="9977938" y="5651500"/>
            <a:ext cx="1699711" cy="503618"/>
          </a:xfrm>
          <a:prstGeom prst="rect">
            <a:avLst/>
          </a:prstGeom>
          <a:noFill/>
          <a:ln>
            <a:noFill/>
          </a:ln>
        </p:spPr>
      </p:pic>
      <p:sp>
        <p:nvSpPr>
          <p:cNvPr id="27" name="Google Shape;27;p9"/>
          <p:cNvSpPr txBox="1"/>
          <p:nvPr>
            <p:ph idx="2" type="body"/>
          </p:nvPr>
        </p:nvSpPr>
        <p:spPr>
          <a:xfrm>
            <a:off x="514350" y="1270554"/>
            <a:ext cx="11163299" cy="528606"/>
          </a:xfrm>
          <a:prstGeom prst="rect">
            <a:avLst/>
          </a:prstGeom>
          <a:noFill/>
          <a:ln>
            <a:noFill/>
          </a:ln>
        </p:spPr>
        <p:txBody>
          <a:bodyPr anchorCtr="0" anchor="t" bIns="45700" lIns="91425" spcFirstLastPara="1" rIns="91425" wrap="square" tIns="45700">
            <a:spAutoFit/>
          </a:bodyPr>
          <a:lstStyle>
            <a:lvl1pPr indent="-228600" lvl="0" marL="457200" algn="l">
              <a:lnSpc>
                <a:spcPct val="90000"/>
              </a:lnSpc>
              <a:spcBef>
                <a:spcPts val="1000"/>
              </a:spcBef>
              <a:spcAft>
                <a:spcPts val="0"/>
              </a:spcAft>
              <a:buClr>
                <a:schemeClr val="dk1"/>
              </a:buClr>
              <a:buSzPts val="1050"/>
              <a:buNone/>
              <a:defRPr sz="1050">
                <a:solidFill>
                  <a:schemeClr val="dk1"/>
                </a:solidFill>
                <a:latin typeface="Libre Franklin"/>
                <a:ea typeface="Libre Franklin"/>
                <a:cs typeface="Libre Franklin"/>
                <a:sym typeface="Libre Franklin"/>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8" name="Shape 28"/>
        <p:cNvGrpSpPr/>
        <p:nvPr/>
      </p:nvGrpSpPr>
      <p:grpSpPr>
        <a:xfrm>
          <a:off x="0" y="0"/>
          <a:ext cx="0" cy="0"/>
          <a:chOff x="0" y="0"/>
          <a:chExt cx="0" cy="0"/>
        </a:xfrm>
      </p:grpSpPr>
      <p:pic>
        <p:nvPicPr>
          <p:cNvPr descr="A close-up of a person&#10;&#10;Description automatically generated" id="29" name="Google Shape;29;p10"/>
          <p:cNvPicPr preferRelativeResize="0"/>
          <p:nvPr/>
        </p:nvPicPr>
        <p:blipFill rotWithShape="1">
          <a:blip r:embed="rId2">
            <a:alphaModFix/>
          </a:blip>
          <a:srcRect b="0" l="0" r="0" t="0"/>
          <a:stretch/>
        </p:blipFill>
        <p:spPr>
          <a:xfrm>
            <a:off x="0" y="7728"/>
            <a:ext cx="12192000" cy="6850272"/>
          </a:xfrm>
          <a:prstGeom prst="rect">
            <a:avLst/>
          </a:prstGeom>
          <a:noFill/>
          <a:ln>
            <a:noFill/>
          </a:ln>
        </p:spPr>
      </p:pic>
      <p:pic>
        <p:nvPicPr>
          <p:cNvPr descr="A green rectangle with white text&#10;&#10;Description automatically generated" id="30" name="Google Shape;30;p10"/>
          <p:cNvPicPr preferRelativeResize="0"/>
          <p:nvPr/>
        </p:nvPicPr>
        <p:blipFill rotWithShape="1">
          <a:blip r:embed="rId3">
            <a:alphaModFix/>
          </a:blip>
          <a:srcRect b="0" l="0" r="0" t="0"/>
          <a:stretch/>
        </p:blipFill>
        <p:spPr>
          <a:xfrm>
            <a:off x="514350" y="5401281"/>
            <a:ext cx="2514599" cy="745066"/>
          </a:xfrm>
          <a:prstGeom prst="rect">
            <a:avLst/>
          </a:prstGeom>
          <a:noFill/>
          <a:ln>
            <a:noFill/>
          </a:ln>
        </p:spPr>
      </p:pic>
      <p:sp>
        <p:nvSpPr>
          <p:cNvPr id="31" name="Google Shape;31;p10"/>
          <p:cNvSpPr txBox="1"/>
          <p:nvPr>
            <p:ph type="title"/>
          </p:nvPr>
        </p:nvSpPr>
        <p:spPr>
          <a:xfrm>
            <a:off x="514350" y="2988543"/>
            <a:ext cx="11163301" cy="1311128"/>
          </a:xfrm>
          <a:prstGeom prst="rect">
            <a:avLst/>
          </a:prstGeom>
          <a:noFill/>
          <a:ln>
            <a:noFill/>
          </a:ln>
        </p:spPr>
        <p:txBody>
          <a:bodyPr anchorCtr="0" anchor="t" bIns="45700" lIns="91425" spcFirstLastPara="1" rIns="91425" wrap="square" tIns="45700">
            <a:spAutoFit/>
          </a:bodyPr>
          <a:lstStyle>
            <a:lvl1pPr lvl="0" algn="l">
              <a:lnSpc>
                <a:spcPct val="90000"/>
              </a:lnSpc>
              <a:spcBef>
                <a:spcPts val="0"/>
              </a:spcBef>
              <a:spcAft>
                <a:spcPts val="0"/>
              </a:spcAft>
              <a:buClr>
                <a:srgbClr val="006241"/>
              </a:buClr>
              <a:buSzPts val="4400"/>
              <a:buFont typeface="Libre Franklin"/>
              <a:buNone/>
              <a:defRPr b="1">
                <a:solidFill>
                  <a:srgbClr val="006241"/>
                </a:solidFill>
                <a:latin typeface="Libre Franklin"/>
                <a:ea typeface="Libre Franklin"/>
                <a:cs typeface="Libre Franklin"/>
                <a:sym typeface="Libre Frankli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descr="A green and white logo&#10;&#10;Description automatically generated" id="32" name="Google Shape;32;p10"/>
          <p:cNvPicPr preferRelativeResize="0"/>
          <p:nvPr/>
        </p:nvPicPr>
        <p:blipFill rotWithShape="1">
          <a:blip r:embed="rId4">
            <a:alphaModFix/>
          </a:blip>
          <a:srcRect b="0" l="0" r="0" t="0"/>
          <a:stretch/>
        </p:blipFill>
        <p:spPr>
          <a:xfrm>
            <a:off x="10185547" y="666307"/>
            <a:ext cx="1106230" cy="1133544"/>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33" name="Shape 33"/>
        <p:cNvGrpSpPr/>
        <p:nvPr/>
      </p:nvGrpSpPr>
      <p:grpSpPr>
        <a:xfrm>
          <a:off x="0" y="0"/>
          <a:ext cx="0" cy="0"/>
          <a:chOff x="0" y="0"/>
          <a:chExt cx="0" cy="0"/>
        </a:xfrm>
      </p:grpSpPr>
      <p:pic>
        <p:nvPicPr>
          <p:cNvPr descr="A person holding a phone&#10;&#10;Description automatically generated" id="34" name="Google Shape;34;p11"/>
          <p:cNvPicPr preferRelativeResize="0"/>
          <p:nvPr/>
        </p:nvPicPr>
        <p:blipFill rotWithShape="1">
          <a:blip r:embed="rId2">
            <a:alphaModFix/>
          </a:blip>
          <a:srcRect b="0" l="0" r="0" t="0"/>
          <a:stretch/>
        </p:blipFill>
        <p:spPr>
          <a:xfrm>
            <a:off x="0" y="3863"/>
            <a:ext cx="12192000" cy="6850271"/>
          </a:xfrm>
          <a:prstGeom prst="rect">
            <a:avLst/>
          </a:prstGeom>
          <a:noFill/>
          <a:ln>
            <a:noFill/>
          </a:ln>
        </p:spPr>
      </p:pic>
      <p:pic>
        <p:nvPicPr>
          <p:cNvPr descr="A white letter b on a black background&#10;&#10;Description automatically generated" id="35" name="Google Shape;35;p11"/>
          <p:cNvPicPr preferRelativeResize="0"/>
          <p:nvPr/>
        </p:nvPicPr>
        <p:blipFill rotWithShape="1">
          <a:blip r:embed="rId3">
            <a:alphaModFix/>
          </a:blip>
          <a:srcRect b="0" l="0" r="0" t="0"/>
          <a:stretch/>
        </p:blipFill>
        <p:spPr>
          <a:xfrm>
            <a:off x="9971274" y="5467238"/>
            <a:ext cx="1554417" cy="199650"/>
          </a:xfrm>
          <a:prstGeom prst="rect">
            <a:avLst/>
          </a:prstGeom>
          <a:noFill/>
          <a:ln>
            <a:noFill/>
          </a:ln>
        </p:spPr>
      </p:pic>
      <p:pic>
        <p:nvPicPr>
          <p:cNvPr descr="A green and white logo&#10;&#10;Description automatically generated" id="36" name="Google Shape;36;p11"/>
          <p:cNvPicPr preferRelativeResize="0"/>
          <p:nvPr/>
        </p:nvPicPr>
        <p:blipFill rotWithShape="1">
          <a:blip r:embed="rId4">
            <a:alphaModFix/>
          </a:blip>
          <a:srcRect b="0" l="0" r="0" t="0"/>
          <a:stretch/>
        </p:blipFill>
        <p:spPr>
          <a:xfrm>
            <a:off x="10185547" y="666307"/>
            <a:ext cx="1106230" cy="1133544"/>
          </a:xfrm>
          <a:prstGeom prst="rect">
            <a:avLst/>
          </a:prstGeom>
          <a:noFill/>
          <a:ln>
            <a:noFill/>
          </a:ln>
        </p:spPr>
      </p:pic>
      <p:pic>
        <p:nvPicPr>
          <p:cNvPr id="37" name="Google Shape;37;p11"/>
          <p:cNvPicPr preferRelativeResize="0"/>
          <p:nvPr/>
        </p:nvPicPr>
        <p:blipFill rotWithShape="1">
          <a:blip r:embed="rId5">
            <a:alphaModFix/>
          </a:blip>
          <a:srcRect b="0" l="0" r="0" t="0"/>
          <a:stretch/>
        </p:blipFill>
        <p:spPr>
          <a:xfrm>
            <a:off x="666307" y="5467238"/>
            <a:ext cx="2778642" cy="238169"/>
          </a:xfrm>
          <a:prstGeom prst="rect">
            <a:avLst/>
          </a:prstGeom>
          <a:noFill/>
          <a:ln>
            <a:noFill/>
          </a:ln>
        </p:spPr>
      </p:pic>
      <p:sp>
        <p:nvSpPr>
          <p:cNvPr id="38" name="Google Shape;38;p11"/>
          <p:cNvSpPr txBox="1"/>
          <p:nvPr/>
        </p:nvSpPr>
        <p:spPr>
          <a:xfrm>
            <a:off x="574157" y="5819245"/>
            <a:ext cx="5911703" cy="20005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700">
                <a:solidFill>
                  <a:schemeClr val="lt1"/>
                </a:solidFill>
                <a:latin typeface="Libre Franklin"/>
                <a:ea typeface="Libre Franklin"/>
                <a:cs typeface="Libre Franklin"/>
                <a:sym typeface="Libre Franklin"/>
              </a:rPr>
              <a:t>Nedbank Ltd Reg No 1951/000009/06. Licenced financial services and registered credit provider (NCRCP16).</a:t>
            </a:r>
            <a:endParaRPr/>
          </a:p>
        </p:txBody>
      </p:sp>
      <p:sp>
        <p:nvSpPr>
          <p:cNvPr id="39" name="Google Shape;39;p11"/>
          <p:cNvSpPr txBox="1"/>
          <p:nvPr>
            <p:ph idx="1" type="body"/>
          </p:nvPr>
        </p:nvSpPr>
        <p:spPr>
          <a:xfrm>
            <a:off x="574156" y="4813595"/>
            <a:ext cx="10951533" cy="341632"/>
          </a:xfrm>
          <a:prstGeom prst="rect">
            <a:avLst/>
          </a:prstGeom>
          <a:noFill/>
          <a:ln>
            <a:noFill/>
          </a:ln>
        </p:spPr>
        <p:txBody>
          <a:bodyPr anchorCtr="0" anchor="t" bIns="45700" lIns="91425" spcFirstLastPara="1" rIns="91425" wrap="square" tIns="45700">
            <a:sp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Libre Franklin"/>
                <a:ea typeface="Libre Franklin"/>
                <a:cs typeface="Libre Franklin"/>
                <a:sym typeface="Libre Franklin"/>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1"/>
          <p:cNvSpPr txBox="1"/>
          <p:nvPr>
            <p:ph type="title"/>
          </p:nvPr>
        </p:nvSpPr>
        <p:spPr>
          <a:xfrm>
            <a:off x="574157" y="1973086"/>
            <a:ext cx="10951534" cy="1311128"/>
          </a:xfrm>
          <a:prstGeom prst="rect">
            <a:avLst/>
          </a:prstGeom>
          <a:noFill/>
          <a:ln>
            <a:noFill/>
          </a:ln>
        </p:spPr>
        <p:txBody>
          <a:bodyPr anchorCtr="0" anchor="t" bIns="45700" lIns="91425" spcFirstLastPara="1" rIns="91425" wrap="square" tIns="45700">
            <a:spAutoFit/>
          </a:bodyPr>
          <a:lstStyle>
            <a:lvl1pPr lvl="0" algn="l">
              <a:lnSpc>
                <a:spcPct val="90000"/>
              </a:lnSpc>
              <a:spcBef>
                <a:spcPts val="0"/>
              </a:spcBef>
              <a:spcAft>
                <a:spcPts val="0"/>
              </a:spcAft>
              <a:buClr>
                <a:schemeClr val="lt1"/>
              </a:buClr>
              <a:buSzPts val="4400"/>
              <a:buFont typeface="Libre Franklin"/>
              <a:buNone/>
              <a:defRPr b="1">
                <a:solidFill>
                  <a:schemeClr val="lt1"/>
                </a:solidFill>
                <a:latin typeface="Libre Franklin"/>
                <a:ea typeface="Libre Franklin"/>
                <a:cs typeface="Libre Franklin"/>
                <a:sym typeface="Libre Frankli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41" name="Google Shape;41;p11"/>
          <p:cNvPicPr preferRelativeResize="0"/>
          <p:nvPr/>
        </p:nvPicPr>
        <p:blipFill rotWithShape="1">
          <a:blip r:embed="rId6">
            <a:alphaModFix/>
          </a:blip>
          <a:srcRect b="0" l="0" r="0" t="0"/>
          <a:stretch/>
        </p:blipFill>
        <p:spPr>
          <a:xfrm>
            <a:off x="558989" y="1533245"/>
            <a:ext cx="214635" cy="293711"/>
          </a:xfrm>
          <a:prstGeom prst="rect">
            <a:avLst/>
          </a:prstGeom>
          <a:noFill/>
          <a:ln>
            <a:noFill/>
          </a:ln>
        </p:spPr>
      </p:pic>
      <p:sp>
        <p:nvSpPr>
          <p:cNvPr id="42" name="Google Shape;42;p11"/>
          <p:cNvSpPr txBox="1"/>
          <p:nvPr>
            <p:ph idx="2" type="body"/>
          </p:nvPr>
        </p:nvSpPr>
        <p:spPr>
          <a:xfrm>
            <a:off x="773623" y="1533245"/>
            <a:ext cx="10752067" cy="341632"/>
          </a:xfrm>
          <a:prstGeom prst="rect">
            <a:avLst/>
          </a:prstGeom>
          <a:noFill/>
          <a:ln>
            <a:noFill/>
          </a:ln>
        </p:spPr>
        <p:txBody>
          <a:bodyPr anchorCtr="0" anchor="t" bIns="45700" lIns="91425" spcFirstLastPara="1" rIns="91425" wrap="square" tIns="45700">
            <a:spAutoFit/>
          </a:bodyPr>
          <a:lstStyle>
            <a:lvl1pPr indent="-228600" lvl="0" marL="457200" algn="l">
              <a:lnSpc>
                <a:spcPct val="90000"/>
              </a:lnSpc>
              <a:spcBef>
                <a:spcPts val="1000"/>
              </a:spcBef>
              <a:spcAft>
                <a:spcPts val="0"/>
              </a:spcAft>
              <a:buClr>
                <a:schemeClr val="lt1"/>
              </a:buClr>
              <a:buSzPts val="1800"/>
              <a:buNone/>
              <a:defRPr sz="1800">
                <a:solidFill>
                  <a:schemeClr val="lt1"/>
                </a:solidFill>
                <a:latin typeface="Libre Franklin"/>
                <a:ea typeface="Libre Franklin"/>
                <a:cs typeface="Libre Franklin"/>
                <a:sym typeface="Libre Franklin"/>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43" name="Shape 43"/>
        <p:cNvGrpSpPr/>
        <p:nvPr/>
      </p:nvGrpSpPr>
      <p:grpSpPr>
        <a:xfrm>
          <a:off x="0" y="0"/>
          <a:ext cx="0" cy="0"/>
          <a:chOff x="0" y="0"/>
          <a:chExt cx="0" cy="0"/>
        </a:xfrm>
      </p:grpSpPr>
      <p:pic>
        <p:nvPicPr>
          <p:cNvPr descr="A screenshot of a computer&#10;&#10;Description automatically generated" id="44" name="Google Shape;44;p12"/>
          <p:cNvPicPr preferRelativeResize="0"/>
          <p:nvPr/>
        </p:nvPicPr>
        <p:blipFill rotWithShape="1">
          <a:blip r:embed="rId2">
            <a:alphaModFix/>
          </a:blip>
          <a:srcRect b="0" l="0" r="0" t="0"/>
          <a:stretch/>
        </p:blipFill>
        <p:spPr>
          <a:xfrm>
            <a:off x="0" y="3863"/>
            <a:ext cx="12192000" cy="6850271"/>
          </a:xfrm>
          <a:prstGeom prst="rect">
            <a:avLst/>
          </a:prstGeom>
          <a:noFill/>
          <a:ln>
            <a:noFill/>
          </a:ln>
        </p:spPr>
      </p:pic>
      <p:sp>
        <p:nvSpPr>
          <p:cNvPr id="45" name="Google Shape;45;p12"/>
          <p:cNvSpPr txBox="1"/>
          <p:nvPr>
            <p:ph type="title"/>
          </p:nvPr>
        </p:nvSpPr>
        <p:spPr>
          <a:xfrm>
            <a:off x="514350" y="378102"/>
            <a:ext cx="11163299" cy="369332"/>
          </a:xfrm>
          <a:prstGeom prst="rect">
            <a:avLst/>
          </a:prstGeom>
          <a:noFill/>
          <a:ln>
            <a:noFill/>
          </a:ln>
        </p:spPr>
        <p:txBody>
          <a:bodyPr anchorCtr="0" anchor="ctr" bIns="45700" lIns="91425" spcFirstLastPara="1" rIns="91425" wrap="square" tIns="45700">
            <a:spAutoFit/>
          </a:bodyPr>
          <a:lstStyle>
            <a:lvl1pPr lvl="0" algn="l">
              <a:lnSpc>
                <a:spcPct val="90000"/>
              </a:lnSpc>
              <a:spcBef>
                <a:spcPts val="0"/>
              </a:spcBef>
              <a:spcAft>
                <a:spcPts val="0"/>
              </a:spcAft>
              <a:buClr>
                <a:srgbClr val="006241"/>
              </a:buClr>
              <a:buSzPts val="2000"/>
              <a:buFont typeface="Libre Franklin"/>
              <a:buNone/>
              <a:defRPr b="1" sz="2000">
                <a:solidFill>
                  <a:srgbClr val="006241"/>
                </a:solidFill>
                <a:latin typeface="Libre Franklin"/>
                <a:ea typeface="Libre Franklin"/>
                <a:cs typeface="Libre Franklin"/>
                <a:sym typeface="Libre Frankli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descr="A green and white logo&#10;&#10;Description automatically generated" id="46" name="Google Shape;46;p12"/>
          <p:cNvPicPr preferRelativeResize="0"/>
          <p:nvPr/>
        </p:nvPicPr>
        <p:blipFill rotWithShape="1">
          <a:blip r:embed="rId3">
            <a:alphaModFix/>
          </a:blip>
          <a:srcRect b="0" l="0" r="0" t="0"/>
          <a:stretch/>
        </p:blipFill>
        <p:spPr>
          <a:xfrm>
            <a:off x="11317216" y="193436"/>
            <a:ext cx="360433" cy="369332"/>
          </a:xfrm>
          <a:prstGeom prst="rect">
            <a:avLst/>
          </a:prstGeom>
          <a:noFill/>
          <a:ln>
            <a:noFill/>
          </a:ln>
        </p:spPr>
      </p:pic>
      <p:sp>
        <p:nvSpPr>
          <p:cNvPr id="47" name="Google Shape;47;p12"/>
          <p:cNvSpPr txBox="1"/>
          <p:nvPr>
            <p:ph idx="1" type="body"/>
          </p:nvPr>
        </p:nvSpPr>
        <p:spPr>
          <a:xfrm>
            <a:off x="514351" y="6474618"/>
            <a:ext cx="5581649" cy="244682"/>
          </a:xfrm>
          <a:prstGeom prst="rect">
            <a:avLst/>
          </a:prstGeom>
          <a:noFill/>
          <a:ln>
            <a:noFill/>
          </a:ln>
        </p:spPr>
        <p:txBody>
          <a:bodyPr anchorCtr="0" anchor="t" bIns="45700" lIns="91425" spcFirstLastPara="1" rIns="91425" wrap="square" tIns="45700">
            <a:spAutoFit/>
          </a:bodyPr>
          <a:lstStyle>
            <a:lvl1pPr indent="-228600" lvl="0" marL="457200" algn="l">
              <a:lnSpc>
                <a:spcPct val="90000"/>
              </a:lnSpc>
              <a:spcBef>
                <a:spcPts val="1000"/>
              </a:spcBef>
              <a:spcAft>
                <a:spcPts val="0"/>
              </a:spcAft>
              <a:buClr>
                <a:srgbClr val="006241"/>
              </a:buClr>
              <a:buSzPts val="1050"/>
              <a:buNone/>
              <a:defRPr sz="1050">
                <a:solidFill>
                  <a:srgbClr val="006241"/>
                </a:solidFill>
                <a:latin typeface="Libre Franklin"/>
                <a:ea typeface="Libre Franklin"/>
                <a:cs typeface="Libre Franklin"/>
                <a:sym typeface="Libre Franklin"/>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descr="A green rectangle with white text&#10;&#10;Description automatically generated" id="48" name="Google Shape;48;p12"/>
          <p:cNvPicPr preferRelativeResize="0"/>
          <p:nvPr/>
        </p:nvPicPr>
        <p:blipFill rotWithShape="1">
          <a:blip r:embed="rId4">
            <a:alphaModFix/>
          </a:blip>
          <a:srcRect b="0" l="0" r="0" t="0"/>
          <a:stretch/>
        </p:blipFill>
        <p:spPr>
          <a:xfrm>
            <a:off x="9977938" y="5651500"/>
            <a:ext cx="1699711" cy="503618"/>
          </a:xfrm>
          <a:prstGeom prst="rect">
            <a:avLst/>
          </a:prstGeom>
          <a:noFill/>
          <a:ln>
            <a:noFill/>
          </a:ln>
        </p:spPr>
      </p:pic>
      <p:sp>
        <p:nvSpPr>
          <p:cNvPr id="49" name="Google Shape;49;p12"/>
          <p:cNvSpPr txBox="1"/>
          <p:nvPr>
            <p:ph idx="2" type="body"/>
          </p:nvPr>
        </p:nvSpPr>
        <p:spPr>
          <a:xfrm>
            <a:off x="514350" y="1270554"/>
            <a:ext cx="11163299" cy="528606"/>
          </a:xfrm>
          <a:prstGeom prst="rect">
            <a:avLst/>
          </a:prstGeom>
          <a:noFill/>
          <a:ln>
            <a:noFill/>
          </a:ln>
        </p:spPr>
        <p:txBody>
          <a:bodyPr anchorCtr="0" anchor="t" bIns="45700" lIns="91425" spcFirstLastPara="1" rIns="91425" wrap="square" tIns="45700">
            <a:spAutoFit/>
          </a:bodyPr>
          <a:lstStyle>
            <a:lvl1pPr indent="-228600" lvl="0" marL="457200" algn="l">
              <a:lnSpc>
                <a:spcPct val="90000"/>
              </a:lnSpc>
              <a:spcBef>
                <a:spcPts val="1000"/>
              </a:spcBef>
              <a:spcAft>
                <a:spcPts val="0"/>
              </a:spcAft>
              <a:buClr>
                <a:schemeClr val="dk1"/>
              </a:buClr>
              <a:buSzPts val="1050"/>
              <a:buNone/>
              <a:defRPr sz="1050">
                <a:solidFill>
                  <a:schemeClr val="dk1"/>
                </a:solidFill>
                <a:latin typeface="Libre Franklin"/>
                <a:ea typeface="Libre Franklin"/>
                <a:cs typeface="Libre Franklin"/>
                <a:sym typeface="Libre Franklin"/>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50" name="Shape 50"/>
        <p:cNvGrpSpPr/>
        <p:nvPr/>
      </p:nvGrpSpPr>
      <p:grpSpPr>
        <a:xfrm>
          <a:off x="0" y="0"/>
          <a:ext cx="0" cy="0"/>
          <a:chOff x="0" y="0"/>
          <a:chExt cx="0" cy="0"/>
        </a:xfrm>
      </p:grpSpPr>
      <p:pic>
        <p:nvPicPr>
          <p:cNvPr descr="A person in a green shirt&#10;&#10;Description automatically generated" id="51" name="Google Shape;51;p13"/>
          <p:cNvPicPr preferRelativeResize="0"/>
          <p:nvPr/>
        </p:nvPicPr>
        <p:blipFill rotWithShape="1">
          <a:blip r:embed="rId2">
            <a:alphaModFix/>
          </a:blip>
          <a:srcRect b="0" l="0" r="0" t="0"/>
          <a:stretch/>
        </p:blipFill>
        <p:spPr>
          <a:xfrm>
            <a:off x="0" y="3863"/>
            <a:ext cx="12192000" cy="6850271"/>
          </a:xfrm>
          <a:prstGeom prst="rect">
            <a:avLst/>
          </a:prstGeom>
          <a:noFill/>
          <a:ln>
            <a:noFill/>
          </a:ln>
        </p:spPr>
      </p:pic>
      <p:pic>
        <p:nvPicPr>
          <p:cNvPr descr="A green rectangle with white text&#10;&#10;Description automatically generated" id="52" name="Google Shape;52;p13"/>
          <p:cNvPicPr preferRelativeResize="0"/>
          <p:nvPr/>
        </p:nvPicPr>
        <p:blipFill rotWithShape="1">
          <a:blip r:embed="rId3">
            <a:alphaModFix/>
          </a:blip>
          <a:srcRect b="0" l="0" r="0" t="0"/>
          <a:stretch/>
        </p:blipFill>
        <p:spPr>
          <a:xfrm>
            <a:off x="514350" y="5401281"/>
            <a:ext cx="2514599" cy="745066"/>
          </a:xfrm>
          <a:prstGeom prst="rect">
            <a:avLst/>
          </a:prstGeom>
          <a:noFill/>
          <a:ln>
            <a:noFill/>
          </a:ln>
        </p:spPr>
      </p:pic>
      <p:sp>
        <p:nvSpPr>
          <p:cNvPr id="53" name="Google Shape;53;p13"/>
          <p:cNvSpPr txBox="1"/>
          <p:nvPr>
            <p:ph type="title"/>
          </p:nvPr>
        </p:nvSpPr>
        <p:spPr>
          <a:xfrm>
            <a:off x="514350" y="2988543"/>
            <a:ext cx="11163301" cy="1311128"/>
          </a:xfrm>
          <a:prstGeom prst="rect">
            <a:avLst/>
          </a:prstGeom>
          <a:noFill/>
          <a:ln>
            <a:noFill/>
          </a:ln>
        </p:spPr>
        <p:txBody>
          <a:bodyPr anchorCtr="0" anchor="t" bIns="45700" lIns="91425" spcFirstLastPara="1" rIns="91425" wrap="square" tIns="45700">
            <a:spAutoFit/>
          </a:bodyPr>
          <a:lstStyle>
            <a:lvl1pPr lvl="0" algn="l">
              <a:lnSpc>
                <a:spcPct val="90000"/>
              </a:lnSpc>
              <a:spcBef>
                <a:spcPts val="0"/>
              </a:spcBef>
              <a:spcAft>
                <a:spcPts val="0"/>
              </a:spcAft>
              <a:buClr>
                <a:schemeClr val="lt1"/>
              </a:buClr>
              <a:buSzPts val="4400"/>
              <a:buFont typeface="Libre Franklin"/>
              <a:buNone/>
              <a:defRPr b="1">
                <a:solidFill>
                  <a:schemeClr val="lt1"/>
                </a:solidFill>
                <a:latin typeface="Libre Franklin"/>
                <a:ea typeface="Libre Franklin"/>
                <a:cs typeface="Libre Franklin"/>
                <a:sym typeface="Libre Frankli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descr="A green and white logo&#10;&#10;Description automatically generated" id="54" name="Google Shape;54;p13"/>
          <p:cNvPicPr preferRelativeResize="0"/>
          <p:nvPr/>
        </p:nvPicPr>
        <p:blipFill rotWithShape="1">
          <a:blip r:embed="rId4">
            <a:alphaModFix/>
          </a:blip>
          <a:srcRect b="0" l="0" r="0" t="0"/>
          <a:stretch/>
        </p:blipFill>
        <p:spPr>
          <a:xfrm>
            <a:off x="10185547" y="666307"/>
            <a:ext cx="1106230" cy="1133544"/>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55" name="Shape 55"/>
        <p:cNvGrpSpPr/>
        <p:nvPr/>
      </p:nvGrpSpPr>
      <p:grpSpPr>
        <a:xfrm>
          <a:off x="0" y="0"/>
          <a:ext cx="0" cy="0"/>
          <a:chOff x="0" y="0"/>
          <a:chExt cx="0" cy="0"/>
        </a:xfrm>
      </p:grpSpPr>
      <p:pic>
        <p:nvPicPr>
          <p:cNvPr descr="A green and white logo&#10;&#10;Description automatically generated" id="56" name="Google Shape;56;p14"/>
          <p:cNvPicPr preferRelativeResize="0"/>
          <p:nvPr/>
        </p:nvPicPr>
        <p:blipFill rotWithShape="1">
          <a:blip r:embed="rId2">
            <a:alphaModFix/>
          </a:blip>
          <a:srcRect b="0" l="0" r="0" t="0"/>
          <a:stretch/>
        </p:blipFill>
        <p:spPr>
          <a:xfrm>
            <a:off x="0" y="3863"/>
            <a:ext cx="12192000" cy="6850271"/>
          </a:xfrm>
          <a:prstGeom prst="rect">
            <a:avLst/>
          </a:prstGeom>
          <a:noFill/>
          <a:ln>
            <a:noFill/>
          </a:ln>
        </p:spPr>
      </p:pic>
      <p:pic>
        <p:nvPicPr>
          <p:cNvPr descr="A black and white rectangle with white text&#10;&#10;Description automatically generated" id="57" name="Google Shape;57;p14"/>
          <p:cNvPicPr preferRelativeResize="0"/>
          <p:nvPr/>
        </p:nvPicPr>
        <p:blipFill rotWithShape="1">
          <a:blip r:embed="rId3">
            <a:alphaModFix/>
          </a:blip>
          <a:srcRect b="0" l="0" r="0" t="0"/>
          <a:stretch/>
        </p:blipFill>
        <p:spPr>
          <a:xfrm>
            <a:off x="514350" y="5084234"/>
            <a:ext cx="2514598" cy="745066"/>
          </a:xfrm>
          <a:prstGeom prst="rect">
            <a:avLst/>
          </a:prstGeom>
          <a:noFill/>
          <a:ln>
            <a:noFill/>
          </a:ln>
        </p:spPr>
      </p:pic>
      <p:pic>
        <p:nvPicPr>
          <p:cNvPr descr="A green and white logo&#10;&#10;Description automatically generated" id="58" name="Google Shape;58;p14"/>
          <p:cNvPicPr preferRelativeResize="0"/>
          <p:nvPr/>
        </p:nvPicPr>
        <p:blipFill rotWithShape="1">
          <a:blip r:embed="rId4">
            <a:alphaModFix/>
          </a:blip>
          <a:srcRect b="0" l="0" r="0" t="0"/>
          <a:stretch/>
        </p:blipFill>
        <p:spPr>
          <a:xfrm>
            <a:off x="10185547" y="666307"/>
            <a:ext cx="1106230" cy="1133544"/>
          </a:xfrm>
          <a:prstGeom prst="rect">
            <a:avLst/>
          </a:prstGeom>
          <a:noFill/>
          <a:ln>
            <a:noFill/>
          </a:ln>
        </p:spPr>
      </p:pic>
      <p:sp>
        <p:nvSpPr>
          <p:cNvPr id="59" name="Google Shape;59;p14"/>
          <p:cNvSpPr txBox="1"/>
          <p:nvPr>
            <p:ph type="title"/>
          </p:nvPr>
        </p:nvSpPr>
        <p:spPr>
          <a:xfrm>
            <a:off x="514350" y="3832905"/>
            <a:ext cx="11163300" cy="701731"/>
          </a:xfrm>
          <a:prstGeom prst="rect">
            <a:avLst/>
          </a:prstGeom>
          <a:noFill/>
          <a:ln>
            <a:noFill/>
          </a:ln>
        </p:spPr>
        <p:txBody>
          <a:bodyPr anchorCtr="0" anchor="ctr" bIns="45700" lIns="91425" spcFirstLastPara="1" rIns="91425" wrap="square" tIns="45700">
            <a:spAutoFit/>
          </a:bodyPr>
          <a:lstStyle>
            <a:lvl1pPr lvl="0" algn="l">
              <a:lnSpc>
                <a:spcPct val="90000"/>
              </a:lnSpc>
              <a:spcBef>
                <a:spcPts val="0"/>
              </a:spcBef>
              <a:spcAft>
                <a:spcPts val="0"/>
              </a:spcAft>
              <a:buClr>
                <a:schemeClr val="lt1"/>
              </a:buClr>
              <a:buSzPts val="4400"/>
              <a:buFont typeface="Libre Franklin"/>
              <a:buNone/>
              <a:defRPr b="1">
                <a:solidFill>
                  <a:schemeClr val="lt1"/>
                </a:solidFill>
                <a:latin typeface="Libre Franklin"/>
                <a:ea typeface="Libre Franklin"/>
                <a:cs typeface="Libre Franklin"/>
                <a:sym typeface="Libre Frankli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0" name="Shape 60"/>
        <p:cNvGrpSpPr/>
        <p:nvPr/>
      </p:nvGrpSpPr>
      <p:grpSpPr>
        <a:xfrm>
          <a:off x="0" y="0"/>
          <a:ext cx="0" cy="0"/>
          <a:chOff x="0" y="0"/>
          <a:chExt cx="0" cy="0"/>
        </a:xfrm>
      </p:grpSpPr>
      <p:sp>
        <p:nvSpPr>
          <p:cNvPr id="61" name="Google Shape;61;p1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15"/>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3" name="Google Shape;63;p15"/>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4" name="Google Shape;64;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7" name="Shape 67"/>
        <p:cNvGrpSpPr/>
        <p:nvPr/>
      </p:nvGrpSpPr>
      <p:grpSpPr>
        <a:xfrm>
          <a:off x="0" y="0"/>
          <a:ext cx="0" cy="0"/>
          <a:chOff x="0" y="0"/>
          <a:chExt cx="0" cy="0"/>
        </a:xfrm>
      </p:grpSpPr>
      <p:sp>
        <p:nvSpPr>
          <p:cNvPr id="68" name="Google Shape;68;p1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16"/>
          <p:cNvSpPr/>
          <p:nvPr>
            <p:ph idx="2" type="pic"/>
          </p:nvPr>
        </p:nvSpPr>
        <p:spPr>
          <a:xfrm>
            <a:off x="5183188" y="987425"/>
            <a:ext cx="6172200" cy="4873625"/>
          </a:xfrm>
          <a:prstGeom prst="rect">
            <a:avLst/>
          </a:prstGeom>
          <a:noFill/>
          <a:ln>
            <a:noFill/>
          </a:ln>
        </p:spPr>
      </p:sp>
      <p:sp>
        <p:nvSpPr>
          <p:cNvPr id="70" name="Google Shape;70;p16"/>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1" name="Google Shape;71;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4" name="Shape 74"/>
        <p:cNvGrpSpPr/>
        <p:nvPr/>
      </p:nvGrpSpPr>
      <p:grpSpPr>
        <a:xfrm>
          <a:off x="0" y="0"/>
          <a:ext cx="0" cy="0"/>
          <a:chOff x="0" y="0"/>
          <a:chExt cx="0" cy="0"/>
        </a:xfrm>
      </p:grpSpPr>
      <p:sp>
        <p:nvSpPr>
          <p:cNvPr id="75" name="Google Shape;75;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7"/>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0" name="Shape 80"/>
        <p:cNvGrpSpPr/>
        <p:nvPr/>
      </p:nvGrpSpPr>
      <p:grpSpPr>
        <a:xfrm>
          <a:off x="0" y="0"/>
          <a:ext cx="0" cy="0"/>
          <a:chOff x="0" y="0"/>
          <a:chExt cx="0" cy="0"/>
        </a:xfrm>
      </p:grpSpPr>
      <p:sp>
        <p:nvSpPr>
          <p:cNvPr id="81" name="Google Shape;81;p18"/>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18"/>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 name="Google Shape;83;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6.jpg"/><Relationship Id="rId4" Type="http://schemas.openxmlformats.org/officeDocument/2006/relationships/image" Target="../media/image15.jpg"/><Relationship Id="rId5" Type="http://schemas.openxmlformats.org/officeDocument/2006/relationships/image" Target="../media/image10.jpg"/><Relationship Id="rId6" Type="http://schemas.openxmlformats.org/officeDocument/2006/relationships/image" Target="../media/image11.jpg"/><Relationship Id="rId7" Type="http://schemas.openxmlformats.org/officeDocument/2006/relationships/image" Target="../media/image1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
          <p:cNvSpPr txBox="1"/>
          <p:nvPr>
            <p:ph idx="1" type="body"/>
          </p:nvPr>
        </p:nvSpPr>
        <p:spPr>
          <a:xfrm>
            <a:off x="574156" y="4813595"/>
            <a:ext cx="10951533" cy="341632"/>
          </a:xfrm>
          <a:prstGeom prst="rect">
            <a:avLst/>
          </a:prstGeom>
          <a:noFill/>
          <a:ln>
            <a:noFill/>
          </a:ln>
        </p:spPr>
        <p:txBody>
          <a:bodyPr anchorCtr="0" anchor="t" bIns="45700" lIns="91425" spcFirstLastPara="1" rIns="91425" wrap="square" tIns="45700">
            <a:spAutoFit/>
          </a:bodyPr>
          <a:lstStyle/>
          <a:p>
            <a:pPr indent="0" lvl="0" marL="0" rtl="0" algn="l">
              <a:lnSpc>
                <a:spcPct val="90000"/>
              </a:lnSpc>
              <a:spcBef>
                <a:spcPts val="0"/>
              </a:spcBef>
              <a:spcAft>
                <a:spcPts val="0"/>
              </a:spcAft>
              <a:buClr>
                <a:schemeClr val="lt1"/>
              </a:buClr>
              <a:buSzPts val="1800"/>
              <a:buNone/>
            </a:pPr>
            <a:r>
              <a:rPr lang="en-US">
                <a:latin typeface="Libre Franklin"/>
                <a:ea typeface="Libre Franklin"/>
                <a:cs typeface="Libre Franklin"/>
                <a:sym typeface="Libre Franklin"/>
              </a:rPr>
              <a:t>14/01/2026</a:t>
            </a:r>
            <a:endParaRPr/>
          </a:p>
        </p:txBody>
      </p:sp>
      <p:sp>
        <p:nvSpPr>
          <p:cNvPr id="91" name="Google Shape;91;p1"/>
          <p:cNvSpPr txBox="1"/>
          <p:nvPr>
            <p:ph type="title"/>
          </p:nvPr>
        </p:nvSpPr>
        <p:spPr>
          <a:xfrm>
            <a:off x="574157" y="1973086"/>
            <a:ext cx="10951534" cy="701731"/>
          </a:xfrm>
          <a:prstGeom prst="rect">
            <a:avLst/>
          </a:prstGeom>
          <a:noFill/>
          <a:ln>
            <a:noFill/>
          </a:ln>
        </p:spPr>
        <p:txBody>
          <a:bodyPr anchorCtr="0" anchor="t" bIns="45700" lIns="91425" spcFirstLastPara="1" rIns="91425" wrap="square" tIns="45700">
            <a:spAutoFit/>
          </a:bodyPr>
          <a:lstStyle/>
          <a:p>
            <a:pPr indent="0" lvl="0" marL="0" rtl="0" algn="l">
              <a:lnSpc>
                <a:spcPct val="90000"/>
              </a:lnSpc>
              <a:spcBef>
                <a:spcPts val="0"/>
              </a:spcBef>
              <a:spcAft>
                <a:spcPts val="0"/>
              </a:spcAft>
              <a:buClr>
                <a:schemeClr val="lt1"/>
              </a:buClr>
              <a:buSzPts val="4400"/>
              <a:buFont typeface="Libre Franklin"/>
              <a:buNone/>
            </a:pPr>
            <a:r>
              <a:rPr lang="en-US"/>
              <a:t>Group Number: 1</a:t>
            </a:r>
            <a:endParaRPr/>
          </a:p>
        </p:txBody>
      </p:sp>
      <p:sp>
        <p:nvSpPr>
          <p:cNvPr id="92" name="Google Shape;92;p1"/>
          <p:cNvSpPr txBox="1"/>
          <p:nvPr>
            <p:ph idx="2" type="body"/>
          </p:nvPr>
        </p:nvSpPr>
        <p:spPr>
          <a:xfrm>
            <a:off x="773623" y="1533245"/>
            <a:ext cx="10752067" cy="341632"/>
          </a:xfrm>
          <a:prstGeom prst="rect">
            <a:avLst/>
          </a:prstGeom>
          <a:noFill/>
          <a:ln>
            <a:noFill/>
          </a:ln>
        </p:spPr>
        <p:txBody>
          <a:bodyPr anchorCtr="0" anchor="t" bIns="45700" lIns="91425" spcFirstLastPara="1" rIns="91425" wrap="square" tIns="45700">
            <a:spAutoFit/>
          </a:bodyPr>
          <a:lstStyle/>
          <a:p>
            <a:pPr indent="0" lvl="0" marL="0" rtl="0" algn="l">
              <a:lnSpc>
                <a:spcPct val="90000"/>
              </a:lnSpc>
              <a:spcBef>
                <a:spcPts val="0"/>
              </a:spcBef>
              <a:spcAft>
                <a:spcPts val="0"/>
              </a:spcAft>
              <a:buClr>
                <a:schemeClr val="lt1"/>
              </a:buClr>
              <a:buSzPts val="1800"/>
              <a:buNone/>
            </a:pPr>
            <a:r>
              <a:rPr lang="en-US"/>
              <a:t>QYF Virtual Internship</a:t>
            </a:r>
            <a:endParaRPr/>
          </a:p>
        </p:txBody>
      </p:sp>
      <p:sp>
        <p:nvSpPr>
          <p:cNvPr id="93" name="Google Shape;93;p1"/>
          <p:cNvSpPr txBox="1"/>
          <p:nvPr/>
        </p:nvSpPr>
        <p:spPr>
          <a:xfrm>
            <a:off x="658761" y="2871019"/>
            <a:ext cx="3814800" cy="1200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lt1"/>
                </a:solidFill>
                <a:latin typeface="Libre Franklin"/>
                <a:ea typeface="Libre Franklin"/>
                <a:cs typeface="Libre Franklin"/>
                <a:sym typeface="Libre Franklin"/>
              </a:rPr>
              <a:t>Group Members (Presenters): </a:t>
            </a:r>
            <a:endParaRPr b="1" sz="1800">
              <a:solidFill>
                <a:schemeClr val="lt1"/>
              </a:solidFill>
              <a:latin typeface="Libre Franklin"/>
              <a:ea typeface="Libre Franklin"/>
              <a:cs typeface="Libre Franklin"/>
              <a:sym typeface="Libre Franklin"/>
            </a:endParaRPr>
          </a:p>
          <a:p>
            <a:pPr indent="-342900" lvl="0" marL="457200" marR="0" rtl="0" algn="l">
              <a:spcBef>
                <a:spcPts val="0"/>
              </a:spcBef>
              <a:spcAft>
                <a:spcPts val="0"/>
              </a:spcAft>
              <a:buClr>
                <a:schemeClr val="lt1"/>
              </a:buClr>
              <a:buSzPts val="1800"/>
              <a:buFont typeface="Libre Franklin"/>
              <a:buChar char="●"/>
            </a:pPr>
            <a:r>
              <a:rPr b="1" lang="en-US" sz="1800">
                <a:solidFill>
                  <a:schemeClr val="lt1"/>
                </a:solidFill>
                <a:latin typeface="Libre Franklin"/>
                <a:ea typeface="Libre Franklin"/>
                <a:cs typeface="Libre Franklin"/>
                <a:sym typeface="Libre Franklin"/>
              </a:rPr>
              <a:t>Simamnkele Vange</a:t>
            </a:r>
            <a:endParaRPr b="1" sz="1800">
              <a:solidFill>
                <a:schemeClr val="lt1"/>
              </a:solidFill>
              <a:latin typeface="Libre Franklin"/>
              <a:ea typeface="Libre Franklin"/>
              <a:cs typeface="Libre Franklin"/>
              <a:sym typeface="Libre Franklin"/>
            </a:endParaRPr>
          </a:p>
          <a:p>
            <a:pPr indent="-342900" lvl="0" marL="457200" marR="0" rtl="0" algn="l">
              <a:spcBef>
                <a:spcPts val="0"/>
              </a:spcBef>
              <a:spcAft>
                <a:spcPts val="0"/>
              </a:spcAft>
              <a:buClr>
                <a:schemeClr val="lt1"/>
              </a:buClr>
              <a:buSzPts val="1800"/>
              <a:buFont typeface="Libre Franklin"/>
              <a:buChar char="●"/>
            </a:pPr>
            <a:r>
              <a:rPr b="1" lang="en-US" sz="1800">
                <a:solidFill>
                  <a:schemeClr val="lt1"/>
                </a:solidFill>
                <a:latin typeface="Libre Franklin"/>
                <a:ea typeface="Libre Franklin"/>
                <a:cs typeface="Libre Franklin"/>
                <a:sym typeface="Libre Franklin"/>
              </a:rPr>
              <a:t>Tshepiso Brier</a:t>
            </a:r>
            <a:endParaRPr b="1" sz="1800">
              <a:solidFill>
                <a:schemeClr val="lt1"/>
              </a:solidFill>
              <a:latin typeface="Libre Franklin"/>
              <a:ea typeface="Libre Franklin"/>
              <a:cs typeface="Libre Franklin"/>
              <a:sym typeface="Libre Franklin"/>
            </a:endParaRPr>
          </a:p>
          <a:p>
            <a:pPr indent="-342900" lvl="0" marL="457200" marR="0" rtl="0" algn="l">
              <a:spcBef>
                <a:spcPts val="0"/>
              </a:spcBef>
              <a:spcAft>
                <a:spcPts val="0"/>
              </a:spcAft>
              <a:buClr>
                <a:schemeClr val="lt1"/>
              </a:buClr>
              <a:buSzPts val="1800"/>
              <a:buFont typeface="Libre Franklin"/>
              <a:buChar char="●"/>
            </a:pPr>
            <a:r>
              <a:rPr b="1" lang="en-US" sz="1800">
                <a:solidFill>
                  <a:schemeClr val="lt1"/>
                </a:solidFill>
                <a:latin typeface="Libre Franklin"/>
                <a:ea typeface="Libre Franklin"/>
                <a:cs typeface="Libre Franklin"/>
                <a:sym typeface="Libre Franklin"/>
              </a:rPr>
              <a:t>Masingita Maswanganye</a:t>
            </a:r>
            <a:endParaRPr b="1" sz="1800">
              <a:solidFill>
                <a:schemeClr val="lt1"/>
              </a:solidFill>
              <a:latin typeface="Libre Franklin"/>
              <a:ea typeface="Libre Franklin"/>
              <a:cs typeface="Libre Franklin"/>
              <a:sym typeface="Libre Franklin"/>
            </a:endParaRPr>
          </a:p>
        </p:txBody>
      </p:sp>
      <p:sp>
        <p:nvSpPr>
          <p:cNvPr id="94" name="Google Shape;94;p1"/>
          <p:cNvSpPr txBox="1"/>
          <p:nvPr/>
        </p:nvSpPr>
        <p:spPr>
          <a:xfrm>
            <a:off x="514351" y="6474618"/>
            <a:ext cx="5581649" cy="237757"/>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chemeClr val="dk1"/>
              </a:buClr>
              <a:buSzPts val="1050"/>
              <a:buFont typeface="Arial"/>
              <a:buNone/>
            </a:pPr>
            <a:r>
              <a:rPr lang="en-US" sz="1050">
                <a:solidFill>
                  <a:schemeClr val="dk1"/>
                </a:solidFill>
                <a:latin typeface="Libre Franklin"/>
                <a:ea typeface="Libre Franklin"/>
                <a:cs typeface="Libre Franklin"/>
                <a:sym typeface="Libre Franklin"/>
              </a:rPr>
              <a:t>QYF Virtual Internship </a:t>
            </a:r>
            <a:r>
              <a:rPr b="1" lang="en-US" sz="1050">
                <a:solidFill>
                  <a:schemeClr val="dk1"/>
                </a:solidFill>
                <a:latin typeface="Libre Franklin"/>
                <a:ea typeface="Libre Franklin"/>
                <a:cs typeface="Libre Franklin"/>
                <a:sym typeface="Libre Franklin"/>
              </a:rPr>
              <a:t> </a:t>
            </a:r>
            <a:r>
              <a:rPr b="1" lang="en-US" sz="1050">
                <a:solidFill>
                  <a:srgbClr val="00B050"/>
                </a:solidFill>
                <a:latin typeface="Libre Franklin"/>
                <a:ea typeface="Libre Franklin"/>
                <a:cs typeface="Libre Franklin"/>
                <a:sym typeface="Libre Franklin"/>
              </a:rPr>
              <a:t>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
          <p:cNvSpPr txBox="1"/>
          <p:nvPr>
            <p:ph type="title"/>
          </p:nvPr>
        </p:nvSpPr>
        <p:spPr>
          <a:xfrm>
            <a:off x="514350" y="378102"/>
            <a:ext cx="11163299" cy="369332"/>
          </a:xfrm>
          <a:prstGeom prst="rect">
            <a:avLst/>
          </a:prstGeom>
          <a:noFill/>
          <a:ln>
            <a:noFill/>
          </a:ln>
        </p:spPr>
        <p:txBody>
          <a:bodyPr anchorCtr="0" anchor="ctr" bIns="45700" lIns="91425" spcFirstLastPara="1" rIns="91425" wrap="square" tIns="45700">
            <a:spAutoFit/>
          </a:bodyPr>
          <a:lstStyle/>
          <a:p>
            <a:pPr indent="0" lvl="0" marL="0" rtl="0" algn="l">
              <a:lnSpc>
                <a:spcPct val="90000"/>
              </a:lnSpc>
              <a:spcBef>
                <a:spcPts val="0"/>
              </a:spcBef>
              <a:spcAft>
                <a:spcPts val="0"/>
              </a:spcAft>
              <a:buClr>
                <a:srgbClr val="006241"/>
              </a:buClr>
              <a:buSzPts val="2000"/>
              <a:buFont typeface="Libre Franklin"/>
              <a:buNone/>
            </a:pPr>
            <a:r>
              <a:rPr lang="en-US">
                <a:latin typeface="Libre Franklin"/>
                <a:ea typeface="Libre Franklin"/>
                <a:cs typeface="Libre Franklin"/>
                <a:sym typeface="Libre Franklin"/>
              </a:rPr>
              <a:t>Section 2: Credit Risk</a:t>
            </a:r>
            <a:endParaRPr/>
          </a:p>
        </p:txBody>
      </p:sp>
      <p:sp>
        <p:nvSpPr>
          <p:cNvPr id="100" name="Google Shape;100;p2"/>
          <p:cNvSpPr txBox="1"/>
          <p:nvPr>
            <p:ph idx="2" type="body"/>
          </p:nvPr>
        </p:nvSpPr>
        <p:spPr>
          <a:xfrm>
            <a:off x="514350" y="941881"/>
            <a:ext cx="11163299" cy="307777"/>
          </a:xfrm>
          <a:prstGeom prst="rect">
            <a:avLst/>
          </a:prstGeom>
          <a:noFill/>
          <a:ln>
            <a:noFill/>
          </a:ln>
        </p:spPr>
        <p:txBody>
          <a:bodyPr anchorCtr="0" anchor="t" bIns="45700" lIns="91425" spcFirstLastPara="1" rIns="91425" wrap="square" tIns="45700">
            <a:spAutoFit/>
          </a:bodyPr>
          <a:lstStyle/>
          <a:p>
            <a:pPr indent="-285750" lvl="0" marL="285750" rtl="0" algn="l">
              <a:lnSpc>
                <a:spcPct val="100000"/>
              </a:lnSpc>
              <a:spcBef>
                <a:spcPts val="0"/>
              </a:spcBef>
              <a:spcAft>
                <a:spcPts val="0"/>
              </a:spcAft>
              <a:buClr>
                <a:schemeClr val="dk1"/>
              </a:buClr>
              <a:buSzPts val="1400"/>
              <a:buFont typeface="Noto Sans Symbols"/>
              <a:buChar char="❑"/>
            </a:pPr>
            <a:r>
              <a:rPr b="1" lang="en-US" sz="1400">
                <a:latin typeface="Libre Franklin"/>
                <a:ea typeface="Libre Franklin"/>
                <a:cs typeface="Libre Franklin"/>
                <a:sym typeface="Libre Franklin"/>
              </a:rPr>
              <a:t>Potential risks associated with this project</a:t>
            </a:r>
            <a:r>
              <a:rPr lang="en-US" sz="1400">
                <a:latin typeface="Libre Franklin"/>
                <a:ea typeface="Libre Franklin"/>
                <a:cs typeface="Libre Franklin"/>
                <a:sym typeface="Libre Franklin"/>
              </a:rPr>
              <a:t> (e.g. market saturation and economic downturns)</a:t>
            </a:r>
            <a:endParaRPr/>
          </a:p>
        </p:txBody>
      </p:sp>
      <p:sp>
        <p:nvSpPr>
          <p:cNvPr id="101" name="Google Shape;101;p2"/>
          <p:cNvSpPr txBox="1"/>
          <p:nvPr/>
        </p:nvSpPr>
        <p:spPr>
          <a:xfrm>
            <a:off x="514350" y="6479898"/>
            <a:ext cx="5581649" cy="237757"/>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chemeClr val="dk1"/>
              </a:buClr>
              <a:buSzPts val="1050"/>
              <a:buFont typeface="Arial"/>
              <a:buNone/>
            </a:pPr>
            <a:r>
              <a:rPr lang="en-US" sz="1050">
                <a:solidFill>
                  <a:schemeClr val="dk1"/>
                </a:solidFill>
                <a:latin typeface="Libre Franklin"/>
                <a:ea typeface="Libre Franklin"/>
                <a:cs typeface="Libre Franklin"/>
                <a:sym typeface="Libre Franklin"/>
              </a:rPr>
              <a:t>QYF Virtual Internship </a:t>
            </a:r>
            <a:r>
              <a:rPr b="1" lang="en-US" sz="1050">
                <a:solidFill>
                  <a:srgbClr val="00E777"/>
                </a:solidFill>
                <a:latin typeface="Libre Franklin"/>
                <a:ea typeface="Libre Franklin"/>
                <a:cs typeface="Libre Franklin"/>
                <a:sym typeface="Libre Franklin"/>
              </a:rPr>
              <a:t>2</a:t>
            </a:r>
            <a:endParaRPr/>
          </a:p>
        </p:txBody>
      </p:sp>
      <p:sp>
        <p:nvSpPr>
          <p:cNvPr id="102" name="Google Shape;102;p2"/>
          <p:cNvSpPr/>
          <p:nvPr/>
        </p:nvSpPr>
        <p:spPr>
          <a:xfrm>
            <a:off x="1002890" y="5132439"/>
            <a:ext cx="8731045" cy="1111045"/>
          </a:xfrm>
          <a:prstGeom prst="roundRect">
            <a:avLst>
              <a:gd fmla="val 16667" name="adj"/>
            </a:avLst>
          </a:prstGeom>
          <a:solidFill>
            <a:schemeClr val="lt1"/>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Libre Franklin"/>
                <a:ea typeface="Libre Franklin"/>
                <a:cs typeface="Libre Franklin"/>
                <a:sym typeface="Libre Franklin"/>
              </a:rPr>
              <a:t>While the EnergiCore project aligns with sustainability objectives, the combined effects of market, economic, cash flow, construction, and interest rate risks increase PD, may raise EAD, and can worsen LGD, thereby elevating Nedbank’s overall credit risk exposure.</a:t>
            </a:r>
            <a:endParaRPr/>
          </a:p>
        </p:txBody>
      </p:sp>
      <p:grpSp>
        <p:nvGrpSpPr>
          <p:cNvPr id="103" name="Google Shape;103;p2"/>
          <p:cNvGrpSpPr/>
          <p:nvPr/>
        </p:nvGrpSpPr>
        <p:grpSpPr>
          <a:xfrm>
            <a:off x="431108" y="1955172"/>
            <a:ext cx="11239975" cy="2666199"/>
            <a:chOff x="6564" y="511066"/>
            <a:chExt cx="11239975" cy="2666199"/>
          </a:xfrm>
        </p:grpSpPr>
        <p:sp>
          <p:nvSpPr>
            <p:cNvPr id="104" name="Google Shape;104;p2"/>
            <p:cNvSpPr/>
            <p:nvPr/>
          </p:nvSpPr>
          <p:spPr>
            <a:xfrm>
              <a:off x="154480" y="671309"/>
              <a:ext cx="3550002" cy="1109375"/>
            </a:xfrm>
            <a:prstGeom prst="rect">
              <a:avLst/>
            </a:prstGeom>
            <a:solidFill>
              <a:schemeClr val="lt1">
                <a:alpha val="54901"/>
              </a:schemeClr>
            </a:solidFill>
            <a:ln cap="flat" cmpd="sng" w="9525">
              <a:solidFill>
                <a:schemeClr val="accent6"/>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2"/>
            <p:cNvSpPr txBox="1"/>
            <p:nvPr/>
          </p:nvSpPr>
          <p:spPr>
            <a:xfrm>
              <a:off x="154480" y="671309"/>
              <a:ext cx="3550002" cy="1109375"/>
            </a:xfrm>
            <a:prstGeom prst="rect">
              <a:avLst/>
            </a:prstGeom>
            <a:noFill/>
            <a:ln>
              <a:noFill/>
            </a:ln>
          </p:spPr>
          <p:txBody>
            <a:bodyPr anchorCtr="0" anchor="t" bIns="53325" lIns="751400" spcFirstLastPara="1" rIns="53325" wrap="square" tIns="53325">
              <a:noAutofit/>
            </a:bodyPr>
            <a:lstStyle/>
            <a:p>
              <a:pPr indent="0" lvl="0" marL="0" marR="0" rtl="0" algn="l">
                <a:lnSpc>
                  <a:spcPct val="90000"/>
                </a:lnSpc>
                <a:spcBef>
                  <a:spcPts val="0"/>
                </a:spcBef>
                <a:spcAft>
                  <a:spcPts val="0"/>
                </a:spcAft>
                <a:buClr>
                  <a:schemeClr val="dk1"/>
                </a:buClr>
                <a:buSzPts val="1400"/>
                <a:buFont typeface="Libre Franklin"/>
                <a:buNone/>
              </a:pPr>
              <a:r>
                <a:rPr lang="en-US" sz="1400">
                  <a:solidFill>
                    <a:schemeClr val="dk1"/>
                  </a:solidFill>
                  <a:latin typeface="Libre Franklin"/>
                  <a:ea typeface="Libre Franklin"/>
                  <a:cs typeface="Libre Franklin"/>
                  <a:sym typeface="Libre Franklin"/>
                </a:rPr>
                <a:t>Market Saturation</a:t>
              </a:r>
              <a:endParaRPr/>
            </a:p>
            <a:p>
              <a:pPr indent="-69850" lvl="1" marL="57150" marR="0" rtl="0" algn="l">
                <a:lnSpc>
                  <a:spcPct val="90000"/>
                </a:lnSpc>
                <a:spcBef>
                  <a:spcPts val="490"/>
                </a:spcBef>
                <a:spcAft>
                  <a:spcPts val="0"/>
                </a:spcAft>
                <a:buClr>
                  <a:schemeClr val="dk1"/>
                </a:buClr>
                <a:buSzPts val="1100"/>
                <a:buFont typeface="Libre Franklin"/>
                <a:buChar char="•"/>
              </a:pPr>
              <a:r>
                <a:rPr b="0" i="0" lang="en-US" sz="1100" u="none" cap="none" strike="noStrike">
                  <a:solidFill>
                    <a:schemeClr val="dk1"/>
                  </a:solidFill>
                  <a:latin typeface="Libre Franklin"/>
                  <a:ea typeface="Libre Franklin"/>
                  <a:cs typeface="Libre Franklin"/>
                  <a:sym typeface="Libre Franklin"/>
                </a:rPr>
                <a:t>High number of sustainable industrial complexes leads to oversupply, decreasing tenant attraction and retention</a:t>
              </a:r>
              <a:endParaRPr/>
            </a:p>
          </p:txBody>
        </p:sp>
        <p:sp>
          <p:nvSpPr>
            <p:cNvPr id="106" name="Google Shape;106;p2"/>
            <p:cNvSpPr/>
            <p:nvPr/>
          </p:nvSpPr>
          <p:spPr>
            <a:xfrm>
              <a:off x="6564" y="511066"/>
              <a:ext cx="776563" cy="1164844"/>
            </a:xfrm>
            <a:prstGeom prst="rect">
              <a:avLst/>
            </a:prstGeom>
            <a:blipFill rotWithShape="1">
              <a:blip r:embed="rId3">
                <a:alphaModFix/>
              </a:blip>
              <a:stretch>
                <a:fillRect b="0" l="-62998" r="-62995" t="0"/>
              </a:stretch>
            </a:blipFill>
            <a:ln cap="flat" cmpd="sng" w="12700">
              <a:solidFill>
                <a:srgbClr val="548135"/>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2"/>
            <p:cNvSpPr/>
            <p:nvPr/>
          </p:nvSpPr>
          <p:spPr>
            <a:xfrm>
              <a:off x="3975054" y="685131"/>
              <a:ext cx="3446604" cy="1077064"/>
            </a:xfrm>
            <a:prstGeom prst="rect">
              <a:avLst/>
            </a:prstGeom>
            <a:solidFill>
              <a:schemeClr val="lt1">
                <a:alpha val="54901"/>
              </a:schemeClr>
            </a:solidFill>
            <a:ln cap="flat" cmpd="sng" w="9525">
              <a:solidFill>
                <a:schemeClr val="accent6"/>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2"/>
            <p:cNvSpPr txBox="1"/>
            <p:nvPr/>
          </p:nvSpPr>
          <p:spPr>
            <a:xfrm>
              <a:off x="3975054" y="685131"/>
              <a:ext cx="3446604" cy="1077064"/>
            </a:xfrm>
            <a:prstGeom prst="rect">
              <a:avLst/>
            </a:prstGeom>
            <a:noFill/>
            <a:ln>
              <a:noFill/>
            </a:ln>
          </p:spPr>
          <p:txBody>
            <a:bodyPr anchorCtr="0" anchor="t" bIns="53325" lIns="729525" spcFirstLastPara="1" rIns="53325" wrap="square" tIns="53325">
              <a:noAutofit/>
            </a:bodyPr>
            <a:lstStyle/>
            <a:p>
              <a:pPr indent="0" lvl="0" marL="0" marR="0" rtl="0" algn="l">
                <a:lnSpc>
                  <a:spcPct val="90000"/>
                </a:lnSpc>
                <a:spcBef>
                  <a:spcPts val="0"/>
                </a:spcBef>
                <a:spcAft>
                  <a:spcPts val="0"/>
                </a:spcAft>
                <a:buClr>
                  <a:schemeClr val="dk1"/>
                </a:buClr>
                <a:buSzPts val="1400"/>
                <a:buFont typeface="Libre Franklin"/>
                <a:buNone/>
              </a:pPr>
              <a:r>
                <a:rPr lang="en-US" sz="1400">
                  <a:solidFill>
                    <a:schemeClr val="dk1"/>
                  </a:solidFill>
                  <a:latin typeface="Libre Franklin"/>
                  <a:ea typeface="Libre Franklin"/>
                  <a:cs typeface="Libre Franklin"/>
                  <a:sym typeface="Libre Franklin"/>
                </a:rPr>
                <a:t>Macroeconomic and Recession</a:t>
              </a:r>
              <a:endParaRPr/>
            </a:p>
            <a:p>
              <a:pPr indent="-69850" lvl="1" marL="57150" marR="0" rtl="0" algn="l">
                <a:lnSpc>
                  <a:spcPct val="90000"/>
                </a:lnSpc>
                <a:spcBef>
                  <a:spcPts val="490"/>
                </a:spcBef>
                <a:spcAft>
                  <a:spcPts val="0"/>
                </a:spcAft>
                <a:buClr>
                  <a:schemeClr val="dk1"/>
                </a:buClr>
                <a:buSzPts val="1100"/>
                <a:buFont typeface="Libre Franklin"/>
                <a:buChar char="•"/>
              </a:pPr>
              <a:r>
                <a:rPr b="0" i="0" lang="en-US" sz="1100" u="none" cap="none" strike="noStrike">
                  <a:solidFill>
                    <a:schemeClr val="dk1"/>
                  </a:solidFill>
                  <a:latin typeface="Libre Franklin"/>
                  <a:ea typeface="Libre Franklin"/>
                  <a:cs typeface="Libre Franklin"/>
                  <a:sym typeface="Libre Franklin"/>
                </a:rPr>
                <a:t>Economic downturn could cause companies to downsize, reducing demand for EnergiCore’s facilities</a:t>
              </a:r>
              <a:endParaRPr/>
            </a:p>
          </p:txBody>
        </p:sp>
        <p:sp>
          <p:nvSpPr>
            <p:cNvPr id="109" name="Google Shape;109;p2"/>
            <p:cNvSpPr/>
            <p:nvPr/>
          </p:nvSpPr>
          <p:spPr>
            <a:xfrm>
              <a:off x="3831445" y="529556"/>
              <a:ext cx="753944" cy="1130917"/>
            </a:xfrm>
            <a:prstGeom prst="rect">
              <a:avLst/>
            </a:prstGeom>
            <a:blipFill rotWithShape="1">
              <a:blip r:embed="rId4">
                <a:alphaModFix/>
              </a:blip>
              <a:stretch>
                <a:fillRect b="1927" l="-97645" r="-28343" t="-1928"/>
              </a:stretch>
            </a:blipFill>
            <a:ln cap="flat" cmpd="sng" w="12700">
              <a:solidFill>
                <a:srgbClr val="548135"/>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2"/>
            <p:cNvSpPr/>
            <p:nvPr/>
          </p:nvSpPr>
          <p:spPr>
            <a:xfrm>
              <a:off x="7696537" y="671309"/>
              <a:ext cx="3550002" cy="1109375"/>
            </a:xfrm>
            <a:prstGeom prst="rect">
              <a:avLst/>
            </a:prstGeom>
            <a:solidFill>
              <a:schemeClr val="lt1">
                <a:alpha val="54901"/>
              </a:schemeClr>
            </a:solidFill>
            <a:ln cap="flat" cmpd="sng" w="9525">
              <a:solidFill>
                <a:schemeClr val="accent6"/>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2"/>
            <p:cNvSpPr txBox="1"/>
            <p:nvPr/>
          </p:nvSpPr>
          <p:spPr>
            <a:xfrm>
              <a:off x="7696537" y="671309"/>
              <a:ext cx="3550002" cy="1109375"/>
            </a:xfrm>
            <a:prstGeom prst="rect">
              <a:avLst/>
            </a:prstGeom>
            <a:noFill/>
            <a:ln>
              <a:noFill/>
            </a:ln>
          </p:spPr>
          <p:txBody>
            <a:bodyPr anchorCtr="0" anchor="t" bIns="53325" lIns="751400" spcFirstLastPara="1" rIns="53325" wrap="square" tIns="53325">
              <a:noAutofit/>
            </a:bodyPr>
            <a:lstStyle/>
            <a:p>
              <a:pPr indent="0" lvl="0" marL="0" marR="0" rtl="0" algn="l">
                <a:lnSpc>
                  <a:spcPct val="90000"/>
                </a:lnSpc>
                <a:spcBef>
                  <a:spcPts val="0"/>
                </a:spcBef>
                <a:spcAft>
                  <a:spcPts val="0"/>
                </a:spcAft>
                <a:buClr>
                  <a:schemeClr val="dk1"/>
                </a:buClr>
                <a:buSzPts val="1400"/>
                <a:buFont typeface="Libre Franklin"/>
                <a:buNone/>
              </a:pPr>
              <a:r>
                <a:rPr lang="en-US" sz="1400">
                  <a:solidFill>
                    <a:schemeClr val="dk1"/>
                  </a:solidFill>
                  <a:latin typeface="Libre Franklin"/>
                  <a:ea typeface="Libre Franklin"/>
                  <a:cs typeface="Libre Franklin"/>
                  <a:sym typeface="Libre Franklin"/>
                </a:rPr>
                <a:t>Cash Flow Dependency</a:t>
              </a:r>
              <a:endParaRPr sz="1400">
                <a:solidFill>
                  <a:schemeClr val="dk1"/>
                </a:solidFill>
                <a:latin typeface="Libre Franklin"/>
                <a:ea typeface="Libre Franklin"/>
                <a:cs typeface="Libre Franklin"/>
                <a:sym typeface="Libre Franklin"/>
              </a:endParaRPr>
            </a:p>
            <a:p>
              <a:pPr indent="-69850" lvl="1" marL="57150" marR="0" rtl="0" algn="l">
                <a:lnSpc>
                  <a:spcPct val="90000"/>
                </a:lnSpc>
                <a:spcBef>
                  <a:spcPts val="490"/>
                </a:spcBef>
                <a:spcAft>
                  <a:spcPts val="0"/>
                </a:spcAft>
                <a:buClr>
                  <a:schemeClr val="dk1"/>
                </a:buClr>
                <a:buSzPts val="1100"/>
                <a:buFont typeface="Libre Franklin"/>
                <a:buChar char="•"/>
              </a:pPr>
              <a:r>
                <a:rPr b="0" i="0" lang="en-US" sz="1100" u="none" cap="none" strike="noStrike">
                  <a:solidFill>
                    <a:schemeClr val="dk1"/>
                  </a:solidFill>
                  <a:latin typeface="Libre Franklin"/>
                  <a:ea typeface="Libre Franklin"/>
                  <a:cs typeface="Libre Franklin"/>
                  <a:sym typeface="Libre Franklin"/>
                </a:rPr>
                <a:t>Ability to service the loan depends heavily on rental income, which is volatile to real estate market conditions. </a:t>
              </a:r>
              <a:endParaRPr/>
            </a:p>
          </p:txBody>
        </p:sp>
        <p:sp>
          <p:nvSpPr>
            <p:cNvPr id="112" name="Google Shape;112;p2"/>
            <p:cNvSpPr/>
            <p:nvPr/>
          </p:nvSpPr>
          <p:spPr>
            <a:xfrm>
              <a:off x="7548621" y="511066"/>
              <a:ext cx="776563" cy="1164844"/>
            </a:xfrm>
            <a:prstGeom prst="rect">
              <a:avLst/>
            </a:prstGeom>
            <a:blipFill rotWithShape="1">
              <a:blip r:embed="rId5">
                <a:alphaModFix/>
              </a:blip>
              <a:stretch>
                <a:fillRect b="0" l="-24998" r="-24998" t="0"/>
              </a:stretch>
            </a:blipFill>
            <a:ln cap="flat" cmpd="sng" w="12700">
              <a:solidFill>
                <a:srgbClr val="548135"/>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2"/>
            <p:cNvSpPr/>
            <p:nvPr/>
          </p:nvSpPr>
          <p:spPr>
            <a:xfrm>
              <a:off x="2013068" y="2067890"/>
              <a:ext cx="3550002" cy="1109375"/>
            </a:xfrm>
            <a:prstGeom prst="rect">
              <a:avLst/>
            </a:prstGeom>
            <a:solidFill>
              <a:schemeClr val="lt1">
                <a:alpha val="54901"/>
              </a:schemeClr>
            </a:solidFill>
            <a:ln cap="flat" cmpd="sng" w="9525">
              <a:solidFill>
                <a:schemeClr val="accent6"/>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2"/>
            <p:cNvSpPr txBox="1"/>
            <p:nvPr/>
          </p:nvSpPr>
          <p:spPr>
            <a:xfrm>
              <a:off x="2013068" y="2067890"/>
              <a:ext cx="3550002" cy="1109375"/>
            </a:xfrm>
            <a:prstGeom prst="rect">
              <a:avLst/>
            </a:prstGeom>
            <a:noFill/>
            <a:ln>
              <a:noFill/>
            </a:ln>
          </p:spPr>
          <p:txBody>
            <a:bodyPr anchorCtr="0" anchor="t" bIns="53325" lIns="751400" spcFirstLastPara="1" rIns="53325" wrap="square" tIns="53325">
              <a:noAutofit/>
            </a:bodyPr>
            <a:lstStyle/>
            <a:p>
              <a:pPr indent="0" lvl="0" marL="0" marR="0" rtl="0" algn="l">
                <a:lnSpc>
                  <a:spcPct val="90000"/>
                </a:lnSpc>
                <a:spcBef>
                  <a:spcPts val="0"/>
                </a:spcBef>
                <a:spcAft>
                  <a:spcPts val="0"/>
                </a:spcAft>
                <a:buClr>
                  <a:schemeClr val="dk1"/>
                </a:buClr>
                <a:buSzPts val="1400"/>
                <a:buFont typeface="Libre Franklin"/>
                <a:buNone/>
              </a:pPr>
              <a:r>
                <a:rPr lang="en-US" sz="1400">
                  <a:solidFill>
                    <a:schemeClr val="dk1"/>
                  </a:solidFill>
                  <a:latin typeface="Libre Franklin"/>
                  <a:ea typeface="Libre Franklin"/>
                  <a:cs typeface="Libre Franklin"/>
                  <a:sym typeface="Libre Franklin"/>
                </a:rPr>
                <a:t>Construction and Completion</a:t>
              </a:r>
              <a:endParaRPr/>
            </a:p>
            <a:p>
              <a:pPr indent="-69850" lvl="1" marL="57150" marR="0" rtl="0" algn="l">
                <a:lnSpc>
                  <a:spcPct val="90000"/>
                </a:lnSpc>
                <a:spcBef>
                  <a:spcPts val="490"/>
                </a:spcBef>
                <a:spcAft>
                  <a:spcPts val="0"/>
                </a:spcAft>
                <a:buClr>
                  <a:schemeClr val="dk1"/>
                </a:buClr>
                <a:buSzPts val="1100"/>
                <a:buFont typeface="Libre Franklin"/>
                <a:buChar char="•"/>
              </a:pPr>
              <a:r>
                <a:rPr b="0" i="0" lang="en-US" sz="1100" u="none" cap="none" strike="noStrike">
                  <a:solidFill>
                    <a:schemeClr val="dk1"/>
                  </a:solidFill>
                  <a:latin typeface="Libre Franklin"/>
                  <a:ea typeface="Libre Franklin"/>
                  <a:cs typeface="Libre Franklin"/>
                  <a:sym typeface="Libre Franklin"/>
                </a:rPr>
                <a:t>Delays or cost overruns could postpone rental income while loan repayments still need to be made</a:t>
              </a:r>
              <a:endParaRPr/>
            </a:p>
          </p:txBody>
        </p:sp>
        <p:sp>
          <p:nvSpPr>
            <p:cNvPr id="115" name="Google Shape;115;p2"/>
            <p:cNvSpPr/>
            <p:nvPr/>
          </p:nvSpPr>
          <p:spPr>
            <a:xfrm>
              <a:off x="1865151" y="1907647"/>
              <a:ext cx="776563" cy="1164844"/>
            </a:xfrm>
            <a:prstGeom prst="rect">
              <a:avLst/>
            </a:prstGeom>
            <a:blipFill rotWithShape="1">
              <a:blip r:embed="rId6">
                <a:alphaModFix/>
              </a:blip>
              <a:stretch>
                <a:fillRect b="0" l="-24998" r="-24998" t="0"/>
              </a:stretch>
            </a:blipFill>
            <a:ln cap="flat" cmpd="sng" w="12700">
              <a:solidFill>
                <a:srgbClr val="548135"/>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2"/>
            <p:cNvSpPr/>
            <p:nvPr/>
          </p:nvSpPr>
          <p:spPr>
            <a:xfrm>
              <a:off x="5837950" y="2067890"/>
              <a:ext cx="3550002" cy="1109375"/>
            </a:xfrm>
            <a:prstGeom prst="rect">
              <a:avLst/>
            </a:prstGeom>
            <a:solidFill>
              <a:schemeClr val="lt1">
                <a:alpha val="54901"/>
              </a:schemeClr>
            </a:solidFill>
            <a:ln cap="flat" cmpd="sng" w="9525">
              <a:solidFill>
                <a:schemeClr val="accent6"/>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2"/>
            <p:cNvSpPr txBox="1"/>
            <p:nvPr/>
          </p:nvSpPr>
          <p:spPr>
            <a:xfrm>
              <a:off x="5837950" y="2067890"/>
              <a:ext cx="3550002" cy="1109375"/>
            </a:xfrm>
            <a:prstGeom prst="rect">
              <a:avLst/>
            </a:prstGeom>
            <a:noFill/>
            <a:ln>
              <a:noFill/>
            </a:ln>
          </p:spPr>
          <p:txBody>
            <a:bodyPr anchorCtr="0" anchor="t" bIns="53325" lIns="751400" spcFirstLastPara="1" rIns="53325" wrap="square" tIns="53325">
              <a:noAutofit/>
            </a:bodyPr>
            <a:lstStyle/>
            <a:p>
              <a:pPr indent="0" lvl="0" marL="0" marR="0" rtl="0" algn="l">
                <a:lnSpc>
                  <a:spcPct val="90000"/>
                </a:lnSpc>
                <a:spcBef>
                  <a:spcPts val="0"/>
                </a:spcBef>
                <a:spcAft>
                  <a:spcPts val="0"/>
                </a:spcAft>
                <a:buClr>
                  <a:schemeClr val="dk1"/>
                </a:buClr>
                <a:buSzPts val="1400"/>
                <a:buFont typeface="Libre Franklin"/>
                <a:buNone/>
              </a:pPr>
              <a:r>
                <a:rPr lang="en-US" sz="1400">
                  <a:solidFill>
                    <a:schemeClr val="dk1"/>
                  </a:solidFill>
                  <a:latin typeface="Libre Franklin"/>
                  <a:ea typeface="Libre Franklin"/>
                  <a:cs typeface="Libre Franklin"/>
                  <a:sym typeface="Libre Franklin"/>
                </a:rPr>
                <a:t>Interest Rate Risk</a:t>
              </a:r>
              <a:endParaRPr/>
            </a:p>
            <a:p>
              <a:pPr indent="-69850" lvl="1" marL="57150" marR="0" rtl="0" algn="l">
                <a:lnSpc>
                  <a:spcPct val="90000"/>
                </a:lnSpc>
                <a:spcBef>
                  <a:spcPts val="490"/>
                </a:spcBef>
                <a:spcAft>
                  <a:spcPts val="0"/>
                </a:spcAft>
                <a:buClr>
                  <a:schemeClr val="dk1"/>
                </a:buClr>
                <a:buSzPts val="1100"/>
                <a:buFont typeface="Libre Franklin"/>
                <a:buChar char="•"/>
              </a:pPr>
              <a:r>
                <a:rPr b="0" i="0" lang="en-US" sz="1100" u="none" cap="none" strike="noStrike">
                  <a:solidFill>
                    <a:schemeClr val="dk1"/>
                  </a:solidFill>
                  <a:latin typeface="Libre Franklin"/>
                  <a:ea typeface="Libre Franklin"/>
                  <a:cs typeface="Libre Franklin"/>
                  <a:sym typeface="Libre Franklin"/>
                </a:rPr>
                <a:t>An increase in interest rates would raise EnergiCore’s debt servicing costs</a:t>
              </a:r>
              <a:endParaRPr b="0" i="0" sz="1100" u="none" cap="none" strike="noStrike">
                <a:solidFill>
                  <a:schemeClr val="dk1"/>
                </a:solidFill>
                <a:latin typeface="Libre Franklin"/>
                <a:ea typeface="Libre Franklin"/>
                <a:cs typeface="Libre Franklin"/>
                <a:sym typeface="Libre Franklin"/>
              </a:endParaRPr>
            </a:p>
          </p:txBody>
        </p:sp>
        <p:sp>
          <p:nvSpPr>
            <p:cNvPr id="118" name="Google Shape;118;p2"/>
            <p:cNvSpPr/>
            <p:nvPr/>
          </p:nvSpPr>
          <p:spPr>
            <a:xfrm>
              <a:off x="5690033" y="1907647"/>
              <a:ext cx="776563" cy="1164844"/>
            </a:xfrm>
            <a:prstGeom prst="rect">
              <a:avLst/>
            </a:prstGeom>
            <a:blipFill rotWithShape="1">
              <a:blip r:embed="rId7">
                <a:alphaModFix/>
              </a:blip>
              <a:stretch>
                <a:fillRect b="-9751" l="-52598" r="1462" t="88"/>
              </a:stretch>
            </a:blipFill>
            <a:ln cap="flat" cmpd="sng" w="12700">
              <a:solidFill>
                <a:srgbClr val="548135"/>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3"/>
          <p:cNvSpPr txBox="1"/>
          <p:nvPr>
            <p:ph type="title"/>
          </p:nvPr>
        </p:nvSpPr>
        <p:spPr>
          <a:xfrm>
            <a:off x="514350" y="378102"/>
            <a:ext cx="11163299" cy="369332"/>
          </a:xfrm>
          <a:prstGeom prst="rect">
            <a:avLst/>
          </a:prstGeom>
          <a:noFill/>
          <a:ln>
            <a:noFill/>
          </a:ln>
        </p:spPr>
        <p:txBody>
          <a:bodyPr anchorCtr="0" anchor="ctr" bIns="45700" lIns="91425" spcFirstLastPara="1" rIns="91425" wrap="square" tIns="45700">
            <a:spAutoFit/>
          </a:bodyPr>
          <a:lstStyle/>
          <a:p>
            <a:pPr indent="0" lvl="0" marL="0" rtl="0" algn="l">
              <a:lnSpc>
                <a:spcPct val="90000"/>
              </a:lnSpc>
              <a:spcBef>
                <a:spcPts val="0"/>
              </a:spcBef>
              <a:spcAft>
                <a:spcPts val="0"/>
              </a:spcAft>
              <a:buClr>
                <a:srgbClr val="006241"/>
              </a:buClr>
              <a:buSzPts val="2000"/>
              <a:buFont typeface="Libre Franklin"/>
              <a:buNone/>
            </a:pPr>
            <a:r>
              <a:rPr lang="en-US">
                <a:latin typeface="Libre Franklin"/>
                <a:ea typeface="Libre Franklin"/>
                <a:cs typeface="Libre Franklin"/>
                <a:sym typeface="Libre Franklin"/>
              </a:rPr>
              <a:t>Section 2: Credit Risk</a:t>
            </a:r>
            <a:endParaRPr/>
          </a:p>
        </p:txBody>
      </p:sp>
      <p:sp>
        <p:nvSpPr>
          <p:cNvPr id="124" name="Google Shape;124;p3"/>
          <p:cNvSpPr txBox="1"/>
          <p:nvPr>
            <p:ph idx="2" type="body"/>
          </p:nvPr>
        </p:nvSpPr>
        <p:spPr>
          <a:xfrm>
            <a:off x="514350" y="1290218"/>
            <a:ext cx="11163299" cy="3144451"/>
          </a:xfrm>
          <a:prstGeom prst="rect">
            <a:avLst/>
          </a:prstGeom>
          <a:noFill/>
          <a:ln>
            <a:noFill/>
          </a:ln>
        </p:spPr>
        <p:txBody>
          <a:bodyPr anchorCtr="0" anchor="t" bIns="45700" lIns="91425" spcFirstLastPara="1" rIns="91425" wrap="square" tIns="45700">
            <a:spAutoFit/>
          </a:bodyPr>
          <a:lstStyle/>
          <a:p>
            <a:pPr indent="-285750" lvl="0" marL="285750" rtl="0" algn="l">
              <a:lnSpc>
                <a:spcPct val="100000"/>
              </a:lnSpc>
              <a:spcBef>
                <a:spcPts val="0"/>
              </a:spcBef>
              <a:spcAft>
                <a:spcPts val="0"/>
              </a:spcAft>
              <a:buClr>
                <a:schemeClr val="dk1"/>
              </a:buClr>
              <a:buSzPts val="1400"/>
              <a:buFont typeface="Noto Sans Symbols"/>
              <a:buChar char="❑"/>
            </a:pPr>
            <a:r>
              <a:rPr lang="en-US" sz="1400">
                <a:latin typeface="Libre Franklin"/>
                <a:ea typeface="Libre Franklin"/>
                <a:cs typeface="Libre Franklin"/>
                <a:sym typeface="Libre Franklin"/>
              </a:rPr>
              <a:t>RAROC of this deal.</a:t>
            </a:r>
            <a:endParaRPr/>
          </a:p>
          <a:p>
            <a:pPr indent="0" lvl="0" marL="0" rtl="0" algn="l">
              <a:lnSpc>
                <a:spcPct val="100000"/>
              </a:lnSpc>
              <a:spcBef>
                <a:spcPts val="1000"/>
              </a:spcBef>
              <a:spcAft>
                <a:spcPts val="0"/>
              </a:spcAft>
              <a:buClr>
                <a:schemeClr val="dk1"/>
              </a:buClr>
              <a:buSzPts val="1400"/>
              <a:buNone/>
            </a:pPr>
            <a:r>
              <a:rPr lang="en-US" sz="1400">
                <a:latin typeface="Libre Franklin"/>
                <a:ea typeface="Libre Franklin"/>
                <a:cs typeface="Libre Franklin"/>
                <a:sym typeface="Libre Franklin"/>
              </a:rPr>
              <a:t>The deal, with the given assumptions, has a risk-adjusted return on capital of 14.7%</a:t>
            </a:r>
            <a:endParaRPr/>
          </a:p>
          <a:p>
            <a:pPr indent="0" lvl="0" marL="0" rtl="0" algn="l">
              <a:lnSpc>
                <a:spcPct val="100000"/>
              </a:lnSpc>
              <a:spcBef>
                <a:spcPts val="1000"/>
              </a:spcBef>
              <a:spcAft>
                <a:spcPts val="0"/>
              </a:spcAft>
              <a:buClr>
                <a:schemeClr val="dk1"/>
              </a:buClr>
              <a:buSzPts val="1400"/>
              <a:buNone/>
            </a:pPr>
            <a:r>
              <a:t/>
            </a:r>
            <a:endParaRPr sz="1400">
              <a:latin typeface="Libre Franklin"/>
              <a:ea typeface="Libre Franklin"/>
              <a:cs typeface="Libre Franklin"/>
              <a:sym typeface="Libre Franklin"/>
            </a:endParaRPr>
          </a:p>
          <a:p>
            <a:pPr indent="-285750" lvl="0" marL="285750" rtl="0" algn="l">
              <a:lnSpc>
                <a:spcPct val="100000"/>
              </a:lnSpc>
              <a:spcBef>
                <a:spcPts val="1000"/>
              </a:spcBef>
              <a:spcAft>
                <a:spcPts val="0"/>
              </a:spcAft>
              <a:buClr>
                <a:schemeClr val="dk1"/>
              </a:buClr>
              <a:buSzPts val="1400"/>
              <a:buFont typeface="Noto Sans Symbols"/>
              <a:buChar char="❑"/>
            </a:pPr>
            <a:r>
              <a:rPr lang="en-US" sz="1400">
                <a:latin typeface="Libre Franklin"/>
                <a:ea typeface="Libre Franklin"/>
                <a:cs typeface="Libre Franklin"/>
                <a:sym typeface="Libre Franklin"/>
              </a:rPr>
              <a:t>Interest rate to be charged to the client to get a RAROC of 17%?</a:t>
            </a:r>
            <a:endParaRPr/>
          </a:p>
          <a:p>
            <a:pPr indent="0" lvl="0" marL="0" rtl="0" algn="l">
              <a:lnSpc>
                <a:spcPct val="100000"/>
              </a:lnSpc>
              <a:spcBef>
                <a:spcPts val="1000"/>
              </a:spcBef>
              <a:spcAft>
                <a:spcPts val="0"/>
              </a:spcAft>
              <a:buClr>
                <a:schemeClr val="dk1"/>
              </a:buClr>
              <a:buSzPts val="1400"/>
              <a:buNone/>
            </a:pPr>
            <a:r>
              <a:rPr lang="en-US" sz="1400">
                <a:latin typeface="Libre Franklin"/>
                <a:ea typeface="Libre Franklin"/>
                <a:cs typeface="Libre Franklin"/>
                <a:sym typeface="Libre Franklin"/>
              </a:rPr>
              <a:t>To achieve a RAROC of 17%, the bank would need to charge 14.07% interest on the loan</a:t>
            </a:r>
            <a:endParaRPr/>
          </a:p>
          <a:p>
            <a:pPr indent="0" lvl="0" marL="0" rtl="0" algn="l">
              <a:lnSpc>
                <a:spcPct val="100000"/>
              </a:lnSpc>
              <a:spcBef>
                <a:spcPts val="1000"/>
              </a:spcBef>
              <a:spcAft>
                <a:spcPts val="0"/>
              </a:spcAft>
              <a:buClr>
                <a:schemeClr val="dk1"/>
              </a:buClr>
              <a:buSzPts val="1400"/>
              <a:buNone/>
            </a:pPr>
            <a:r>
              <a:t/>
            </a:r>
            <a:endParaRPr sz="1400">
              <a:latin typeface="Libre Franklin"/>
              <a:ea typeface="Libre Franklin"/>
              <a:cs typeface="Libre Franklin"/>
              <a:sym typeface="Libre Franklin"/>
            </a:endParaRPr>
          </a:p>
          <a:p>
            <a:pPr indent="-285750" lvl="0" marL="285750" rtl="0" algn="l">
              <a:lnSpc>
                <a:spcPct val="100000"/>
              </a:lnSpc>
              <a:spcBef>
                <a:spcPts val="1000"/>
              </a:spcBef>
              <a:spcAft>
                <a:spcPts val="0"/>
              </a:spcAft>
              <a:buClr>
                <a:schemeClr val="dk1"/>
              </a:buClr>
              <a:buSzPts val="1400"/>
              <a:buFont typeface="Noto Sans Symbols"/>
              <a:buChar char="❑"/>
            </a:pPr>
            <a:r>
              <a:rPr lang="en-US" sz="1400">
                <a:latin typeface="Libre Franklin"/>
                <a:ea typeface="Libre Franklin"/>
                <a:cs typeface="Libre Franklin"/>
                <a:sym typeface="Libre Franklin"/>
              </a:rPr>
              <a:t>What is the break-even point of the loan? In other words, what is interest rate needed to achieve an EP of R0. How would you use this result?</a:t>
            </a:r>
            <a:endParaRPr/>
          </a:p>
          <a:p>
            <a:pPr indent="0" lvl="0" marL="0" rtl="0" algn="l">
              <a:lnSpc>
                <a:spcPct val="100000"/>
              </a:lnSpc>
              <a:spcBef>
                <a:spcPts val="1000"/>
              </a:spcBef>
              <a:spcAft>
                <a:spcPts val="0"/>
              </a:spcAft>
              <a:buClr>
                <a:schemeClr val="dk1"/>
              </a:buClr>
              <a:buSzPts val="1400"/>
              <a:buNone/>
            </a:pPr>
            <a:r>
              <a:rPr lang="en-US" sz="1400">
                <a:latin typeface="Libre Franklin"/>
                <a:ea typeface="Libre Franklin"/>
                <a:cs typeface="Libre Franklin"/>
                <a:sym typeface="Libre Franklin"/>
              </a:rPr>
              <a:t>The loan has a break-even point of 13.71%. The 13.71% break-even rate indicates the minimum interest rate at which Nedbank neither creates nor destroys economic value. It serves as a pricing floor, guiding loan approval, negotiation, and risk mitigation decisions.</a:t>
            </a:r>
            <a:endParaRPr/>
          </a:p>
        </p:txBody>
      </p:sp>
      <p:sp>
        <p:nvSpPr>
          <p:cNvPr id="125" name="Google Shape;125;p3"/>
          <p:cNvSpPr txBox="1"/>
          <p:nvPr/>
        </p:nvSpPr>
        <p:spPr>
          <a:xfrm>
            <a:off x="514350" y="6479898"/>
            <a:ext cx="5581649" cy="24468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chemeClr val="dk1"/>
              </a:buClr>
              <a:buSzPts val="1050"/>
              <a:buFont typeface="Arial"/>
              <a:buNone/>
            </a:pPr>
            <a:r>
              <a:rPr lang="en-US" sz="1050">
                <a:solidFill>
                  <a:schemeClr val="dk1"/>
                </a:solidFill>
                <a:latin typeface="Libre Franklin"/>
                <a:ea typeface="Libre Franklin"/>
                <a:cs typeface="Libre Franklin"/>
                <a:sym typeface="Libre Franklin"/>
              </a:rPr>
              <a:t>QYF Virtual Internship </a:t>
            </a:r>
            <a:r>
              <a:rPr b="1" lang="en-US" sz="1050">
                <a:solidFill>
                  <a:srgbClr val="00E777"/>
                </a:solidFill>
                <a:latin typeface="Libre Franklin"/>
                <a:ea typeface="Libre Franklin"/>
                <a:cs typeface="Libre Franklin"/>
                <a:sym typeface="Libre Franklin"/>
              </a:rPr>
              <a:t>3</a:t>
            </a:r>
            <a:endParaRPr sz="1050">
              <a:solidFill>
                <a:srgbClr val="00E777"/>
              </a:solidFill>
              <a:latin typeface="Libre Franklin"/>
              <a:ea typeface="Libre Franklin"/>
              <a:cs typeface="Libre Franklin"/>
              <a:sym typeface="Libre Frankli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4"/>
          <p:cNvSpPr txBox="1"/>
          <p:nvPr>
            <p:ph type="title"/>
          </p:nvPr>
        </p:nvSpPr>
        <p:spPr>
          <a:xfrm>
            <a:off x="514350" y="378102"/>
            <a:ext cx="11163299" cy="369332"/>
          </a:xfrm>
          <a:prstGeom prst="rect">
            <a:avLst/>
          </a:prstGeom>
          <a:noFill/>
          <a:ln>
            <a:noFill/>
          </a:ln>
        </p:spPr>
        <p:txBody>
          <a:bodyPr anchorCtr="0" anchor="ctr" bIns="45700" lIns="91425" spcFirstLastPara="1" rIns="91425" wrap="square" tIns="45700">
            <a:spAutoFit/>
          </a:bodyPr>
          <a:lstStyle/>
          <a:p>
            <a:pPr indent="0" lvl="0" marL="0" rtl="0" algn="l">
              <a:lnSpc>
                <a:spcPct val="90000"/>
              </a:lnSpc>
              <a:spcBef>
                <a:spcPts val="0"/>
              </a:spcBef>
              <a:spcAft>
                <a:spcPts val="0"/>
              </a:spcAft>
              <a:buClr>
                <a:srgbClr val="006241"/>
              </a:buClr>
              <a:buSzPts val="2000"/>
              <a:buFont typeface="Libre Franklin"/>
              <a:buNone/>
            </a:pPr>
            <a:r>
              <a:rPr lang="en-US">
                <a:latin typeface="Libre Franklin"/>
                <a:ea typeface="Libre Franklin"/>
                <a:cs typeface="Libre Franklin"/>
                <a:sym typeface="Libre Franklin"/>
              </a:rPr>
              <a:t>Section 2: Credit Risk</a:t>
            </a:r>
            <a:endParaRPr/>
          </a:p>
        </p:txBody>
      </p:sp>
      <p:sp>
        <p:nvSpPr>
          <p:cNvPr id="131" name="Google Shape;131;p4"/>
          <p:cNvSpPr txBox="1"/>
          <p:nvPr>
            <p:ph idx="2" type="body"/>
          </p:nvPr>
        </p:nvSpPr>
        <p:spPr>
          <a:xfrm>
            <a:off x="514350" y="1052800"/>
            <a:ext cx="11163299" cy="307777"/>
          </a:xfrm>
          <a:prstGeom prst="rect">
            <a:avLst/>
          </a:prstGeom>
          <a:noFill/>
          <a:ln>
            <a:noFill/>
          </a:ln>
        </p:spPr>
        <p:txBody>
          <a:bodyPr anchorCtr="0" anchor="t" bIns="45700" lIns="91425" spcFirstLastPara="1" rIns="91425" wrap="square" tIns="45700">
            <a:spAutoFit/>
          </a:bodyPr>
          <a:lstStyle/>
          <a:p>
            <a:pPr indent="-285750" lvl="0" marL="285750" rtl="0" algn="l">
              <a:lnSpc>
                <a:spcPct val="100000"/>
              </a:lnSpc>
              <a:spcBef>
                <a:spcPts val="0"/>
              </a:spcBef>
              <a:spcAft>
                <a:spcPts val="0"/>
              </a:spcAft>
              <a:buClr>
                <a:schemeClr val="dk1"/>
              </a:buClr>
              <a:buSzPts val="1400"/>
              <a:buFont typeface="Noto Sans Symbols"/>
              <a:buChar char="❑"/>
            </a:pPr>
            <a:r>
              <a:rPr b="1" lang="en-US" sz="1400">
                <a:latin typeface="Libre Franklin"/>
                <a:ea typeface="Libre Franklin"/>
                <a:cs typeface="Libre Franklin"/>
                <a:sym typeface="Libre Franklin"/>
              </a:rPr>
              <a:t>Sensitivity Analysis of PD vs RAROC and Trends.</a:t>
            </a:r>
            <a:endParaRPr/>
          </a:p>
        </p:txBody>
      </p:sp>
      <p:sp>
        <p:nvSpPr>
          <p:cNvPr id="132" name="Google Shape;132;p4"/>
          <p:cNvSpPr txBox="1"/>
          <p:nvPr/>
        </p:nvSpPr>
        <p:spPr>
          <a:xfrm>
            <a:off x="514350" y="6479898"/>
            <a:ext cx="5581649" cy="24468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chemeClr val="dk1"/>
              </a:buClr>
              <a:buSzPts val="1050"/>
              <a:buFont typeface="Arial"/>
              <a:buNone/>
            </a:pPr>
            <a:r>
              <a:rPr lang="en-US" sz="1050">
                <a:solidFill>
                  <a:schemeClr val="dk1"/>
                </a:solidFill>
                <a:latin typeface="Libre Franklin"/>
                <a:ea typeface="Libre Franklin"/>
                <a:cs typeface="Libre Franklin"/>
                <a:sym typeface="Libre Franklin"/>
              </a:rPr>
              <a:t>QYF Virtual Internship </a:t>
            </a:r>
            <a:r>
              <a:rPr b="1" lang="en-US" sz="1050">
                <a:solidFill>
                  <a:srgbClr val="00E777"/>
                </a:solidFill>
                <a:latin typeface="Libre Franklin"/>
                <a:ea typeface="Libre Franklin"/>
                <a:cs typeface="Libre Franklin"/>
                <a:sym typeface="Libre Franklin"/>
              </a:rPr>
              <a:t>4</a:t>
            </a:r>
            <a:endParaRPr sz="1050">
              <a:solidFill>
                <a:srgbClr val="00E777"/>
              </a:solidFill>
              <a:latin typeface="Libre Franklin"/>
              <a:ea typeface="Libre Franklin"/>
              <a:cs typeface="Libre Franklin"/>
              <a:sym typeface="Libre Franklin"/>
            </a:endParaRPr>
          </a:p>
        </p:txBody>
      </p:sp>
      <p:graphicFrame>
        <p:nvGraphicFramePr>
          <p:cNvPr id="133" name="Google Shape;133;p4"/>
          <p:cNvGraphicFramePr/>
          <p:nvPr/>
        </p:nvGraphicFramePr>
        <p:xfrm>
          <a:off x="514350" y="1702443"/>
          <a:ext cx="5581649" cy="3398548"/>
        </p:xfrm>
        <a:graphic>
          <a:graphicData uri="http://schemas.openxmlformats.org/drawingml/2006/chart">
            <c:chart r:id="rId3"/>
          </a:graphicData>
        </a:graphic>
      </p:graphicFrame>
      <p:grpSp>
        <p:nvGrpSpPr>
          <p:cNvPr id="134" name="Google Shape;134;p4"/>
          <p:cNvGrpSpPr/>
          <p:nvPr/>
        </p:nvGrpSpPr>
        <p:grpSpPr>
          <a:xfrm>
            <a:off x="6096000" y="1360577"/>
            <a:ext cx="5581650" cy="4082280"/>
            <a:chOff x="6498771" y="1216894"/>
            <a:chExt cx="5178878" cy="3731159"/>
          </a:xfrm>
        </p:grpSpPr>
        <p:sp>
          <p:nvSpPr>
            <p:cNvPr id="135" name="Google Shape;135;p4"/>
            <p:cNvSpPr/>
            <p:nvPr/>
          </p:nvSpPr>
          <p:spPr>
            <a:xfrm>
              <a:off x="6498771" y="1216894"/>
              <a:ext cx="5178878" cy="1111045"/>
            </a:xfrm>
            <a:prstGeom prst="roundRect">
              <a:avLst>
                <a:gd fmla="val 16667" name="adj"/>
              </a:avLst>
            </a:prstGeom>
            <a:solidFill>
              <a:schemeClr val="lt1"/>
            </a:solidFill>
            <a:ln cap="flat" cmpd="sng" w="12700">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400">
                  <a:solidFill>
                    <a:schemeClr val="dk1"/>
                  </a:solidFill>
                  <a:latin typeface="Libre Franklin"/>
                  <a:ea typeface="Libre Franklin"/>
                  <a:cs typeface="Libre Franklin"/>
                  <a:sym typeface="Libre Franklin"/>
                </a:rPr>
                <a:t>As PD increases, RAROC increase:</a:t>
              </a:r>
              <a:endParaRPr/>
            </a:p>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Libre Franklin"/>
                  <a:ea typeface="Libre Franklin"/>
                  <a:cs typeface="Libre Franklin"/>
                  <a:sym typeface="Libre Franklin"/>
                </a:rPr>
                <a:t>PD&lt;2% results in a high RAROC, signaling a more profitable investment.</a:t>
              </a:r>
              <a:endParaRPr/>
            </a:p>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Libre Franklin"/>
                  <a:ea typeface="Libre Franklin"/>
                  <a:cs typeface="Libre Franklin"/>
                  <a:sym typeface="Libre Franklin"/>
                </a:rPr>
                <a:t>When PD is approximately 7%, RAROC approaches 0%</a:t>
              </a:r>
              <a:endParaRPr/>
            </a:p>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Libre Franklin"/>
                  <a:ea typeface="Libre Franklin"/>
                  <a:cs typeface="Libre Franklin"/>
                  <a:sym typeface="Libre Franklin"/>
                </a:rPr>
                <a:t>PD&gt;7% results in a negative RAROC, signaling loss</a:t>
              </a:r>
              <a:endParaRPr/>
            </a:p>
          </p:txBody>
        </p:sp>
        <p:sp>
          <p:nvSpPr>
            <p:cNvPr id="136" name="Google Shape;136;p4"/>
            <p:cNvSpPr/>
            <p:nvPr/>
          </p:nvSpPr>
          <p:spPr>
            <a:xfrm>
              <a:off x="6498771" y="2526951"/>
              <a:ext cx="5178878" cy="1111045"/>
            </a:xfrm>
            <a:prstGeom prst="roundRect">
              <a:avLst>
                <a:gd fmla="val 16667" name="adj"/>
              </a:avLst>
            </a:prstGeom>
            <a:solidFill>
              <a:schemeClr val="lt1"/>
            </a:solidFill>
            <a:ln cap="flat" cmpd="sng" w="12700">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400">
                  <a:solidFill>
                    <a:schemeClr val="dk1"/>
                  </a:solidFill>
                  <a:latin typeface="Libre Franklin"/>
                  <a:ea typeface="Libre Franklin"/>
                  <a:cs typeface="Libre Franklin"/>
                  <a:sym typeface="Libre Franklin"/>
                </a:rPr>
                <a:t>Pricing Implications: </a:t>
              </a:r>
              <a:endParaRPr/>
            </a:p>
            <a:p>
              <a:pPr indent="0" lvl="0" marL="0" marR="0" rtl="0" algn="l">
                <a:spcBef>
                  <a:spcPts val="0"/>
                </a:spcBef>
                <a:spcAft>
                  <a:spcPts val="0"/>
                </a:spcAft>
                <a:buNone/>
              </a:pPr>
              <a:r>
                <a:rPr lang="en-US" sz="1400">
                  <a:solidFill>
                    <a:schemeClr val="dk1"/>
                  </a:solidFill>
                  <a:latin typeface="Libre Franklin"/>
                  <a:ea typeface="Libre Franklin"/>
                  <a:cs typeface="Libre Franklin"/>
                  <a:sym typeface="Libre Franklin"/>
                </a:rPr>
                <a:t>If the probability of default is high, the bank must increase interest rate of monthly fees to maintain a RAROC above the hurdle rate</a:t>
              </a:r>
              <a:endParaRPr/>
            </a:p>
          </p:txBody>
        </p:sp>
        <p:sp>
          <p:nvSpPr>
            <p:cNvPr id="137" name="Google Shape;137;p4"/>
            <p:cNvSpPr/>
            <p:nvPr/>
          </p:nvSpPr>
          <p:spPr>
            <a:xfrm>
              <a:off x="6498771" y="3837008"/>
              <a:ext cx="5178878" cy="1111045"/>
            </a:xfrm>
            <a:prstGeom prst="roundRect">
              <a:avLst>
                <a:gd fmla="val 16667" name="adj"/>
              </a:avLst>
            </a:prstGeom>
            <a:solidFill>
              <a:schemeClr val="lt1"/>
            </a:solidFill>
            <a:ln cap="flat" cmpd="sng" w="12700">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400">
                  <a:solidFill>
                    <a:schemeClr val="dk1"/>
                  </a:solidFill>
                  <a:latin typeface="Libre Franklin"/>
                  <a:ea typeface="Libre Franklin"/>
                  <a:cs typeface="Libre Franklin"/>
                  <a:sym typeface="Libre Franklin"/>
                </a:rPr>
                <a:t>Risk Management Implications:</a:t>
              </a:r>
              <a:endParaRPr/>
            </a:p>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Libre Franklin"/>
                  <a:ea typeface="Libre Franklin"/>
                  <a:cs typeface="Libre Franklin"/>
                  <a:sym typeface="Libre Franklin"/>
                </a:rPr>
                <a:t>Avoid too many high-PD loans</a:t>
              </a:r>
              <a:endParaRPr/>
            </a:p>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Libre Franklin"/>
                  <a:ea typeface="Libre Franklin"/>
                  <a:cs typeface="Libre Franklin"/>
                  <a:sym typeface="Libre Franklin"/>
                </a:rPr>
                <a:t>For &gt;PD clients, require stronger collateral</a:t>
              </a:r>
              <a:endParaRPr/>
            </a:p>
            <a:p>
              <a:pPr indent="-285750" lvl="0" marL="285750" marR="0" rtl="0" algn="l">
                <a:spcBef>
                  <a:spcPts val="0"/>
                </a:spcBef>
                <a:spcAft>
                  <a:spcPts val="0"/>
                </a:spcAft>
                <a:buClr>
                  <a:schemeClr val="dk1"/>
                </a:buClr>
                <a:buSzPts val="1400"/>
                <a:buFont typeface="Arial"/>
                <a:buChar char="•"/>
              </a:pPr>
              <a:r>
                <a:rPr lang="en-US" sz="1400">
                  <a:solidFill>
                    <a:schemeClr val="dk1"/>
                  </a:solidFill>
                  <a:latin typeface="Libre Franklin"/>
                  <a:ea typeface="Libre Franklin"/>
                  <a:cs typeface="Libre Franklin"/>
                  <a:sym typeface="Libre Franklin"/>
                </a:rPr>
                <a:t>Practice portfolio diversification</a:t>
              </a: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5"/>
          <p:cNvSpPr txBox="1"/>
          <p:nvPr>
            <p:ph type="title"/>
          </p:nvPr>
        </p:nvSpPr>
        <p:spPr>
          <a:xfrm>
            <a:off x="514350" y="378102"/>
            <a:ext cx="11163299" cy="369332"/>
          </a:xfrm>
          <a:prstGeom prst="rect">
            <a:avLst/>
          </a:prstGeom>
          <a:noFill/>
          <a:ln>
            <a:noFill/>
          </a:ln>
        </p:spPr>
        <p:txBody>
          <a:bodyPr anchorCtr="0" anchor="ctr" bIns="45700" lIns="91425" spcFirstLastPara="1" rIns="91425" wrap="square" tIns="45700">
            <a:spAutoFit/>
          </a:bodyPr>
          <a:lstStyle/>
          <a:p>
            <a:pPr indent="0" lvl="0" marL="0" rtl="0" algn="l">
              <a:lnSpc>
                <a:spcPct val="90000"/>
              </a:lnSpc>
              <a:spcBef>
                <a:spcPts val="0"/>
              </a:spcBef>
              <a:spcAft>
                <a:spcPts val="0"/>
              </a:spcAft>
              <a:buClr>
                <a:srgbClr val="006241"/>
              </a:buClr>
              <a:buSzPts val="2000"/>
              <a:buFont typeface="Libre Franklin"/>
              <a:buNone/>
            </a:pPr>
            <a:r>
              <a:rPr lang="en-US">
                <a:latin typeface="Libre Franklin"/>
                <a:ea typeface="Libre Franklin"/>
                <a:cs typeface="Libre Franklin"/>
                <a:sym typeface="Libre Franklin"/>
              </a:rPr>
              <a:t>Conclusion</a:t>
            </a:r>
            <a:endParaRPr/>
          </a:p>
        </p:txBody>
      </p:sp>
      <p:sp>
        <p:nvSpPr>
          <p:cNvPr id="143" name="Google Shape;143;p5"/>
          <p:cNvSpPr txBox="1"/>
          <p:nvPr/>
        </p:nvSpPr>
        <p:spPr>
          <a:xfrm>
            <a:off x="514350" y="6479898"/>
            <a:ext cx="5581649" cy="24468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chemeClr val="dk1"/>
              </a:buClr>
              <a:buSzPts val="1050"/>
              <a:buFont typeface="Arial"/>
              <a:buNone/>
            </a:pPr>
            <a:r>
              <a:rPr lang="en-US" sz="1050">
                <a:solidFill>
                  <a:schemeClr val="dk1"/>
                </a:solidFill>
                <a:latin typeface="Libre Franklin"/>
                <a:ea typeface="Libre Franklin"/>
                <a:cs typeface="Libre Franklin"/>
                <a:sym typeface="Libre Franklin"/>
              </a:rPr>
              <a:t>QYF Virtual Internship </a:t>
            </a:r>
            <a:r>
              <a:rPr b="1" lang="en-US" sz="1050">
                <a:solidFill>
                  <a:srgbClr val="00E777"/>
                </a:solidFill>
                <a:latin typeface="Libre Franklin"/>
                <a:ea typeface="Libre Franklin"/>
                <a:cs typeface="Libre Franklin"/>
                <a:sym typeface="Libre Franklin"/>
              </a:rPr>
              <a:t>5</a:t>
            </a:r>
            <a:endParaRPr sz="1050">
              <a:solidFill>
                <a:srgbClr val="00E777"/>
              </a:solidFill>
              <a:latin typeface="Libre Franklin"/>
              <a:ea typeface="Libre Franklin"/>
              <a:cs typeface="Libre Franklin"/>
              <a:sym typeface="Libre Franklin"/>
            </a:endParaRPr>
          </a:p>
        </p:txBody>
      </p:sp>
      <p:sp>
        <p:nvSpPr>
          <p:cNvPr id="144" name="Google Shape;144;p5"/>
          <p:cNvSpPr txBox="1"/>
          <p:nvPr/>
        </p:nvSpPr>
        <p:spPr>
          <a:xfrm>
            <a:off x="514275" y="988575"/>
            <a:ext cx="11163300" cy="21864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Libre Franklin"/>
              <a:buChar char="❏"/>
            </a:pPr>
            <a:r>
              <a:rPr lang="en-US">
                <a:solidFill>
                  <a:schemeClr val="dk1"/>
                </a:solidFill>
                <a:latin typeface="Libre Franklin"/>
                <a:ea typeface="Libre Franklin"/>
                <a:cs typeface="Libre Franklin"/>
                <a:sym typeface="Libre Franklin"/>
              </a:rPr>
              <a:t>The hurdle rate needed is 17%, while the risk-adjusted return on capital (RAROC) for this loan is 14.7%, which is lower.</a:t>
            </a:r>
            <a:endParaRPr>
              <a:solidFill>
                <a:schemeClr val="dk1"/>
              </a:solidFill>
              <a:latin typeface="Libre Franklin"/>
              <a:ea typeface="Libre Franklin"/>
              <a:cs typeface="Libre Franklin"/>
              <a:sym typeface="Libre Franklin"/>
            </a:endParaRPr>
          </a:p>
          <a:p>
            <a:pPr indent="-317500" lvl="0" marL="457200" rtl="0" algn="l">
              <a:spcBef>
                <a:spcPts val="0"/>
              </a:spcBef>
              <a:spcAft>
                <a:spcPts val="0"/>
              </a:spcAft>
              <a:buClr>
                <a:schemeClr val="dk1"/>
              </a:buClr>
              <a:buSzPts val="1400"/>
              <a:buFont typeface="Libre Franklin"/>
              <a:buChar char="❏"/>
            </a:pPr>
            <a:r>
              <a:rPr lang="en-US">
                <a:solidFill>
                  <a:schemeClr val="dk1"/>
                </a:solidFill>
                <a:latin typeface="Libre Franklin"/>
                <a:ea typeface="Libre Franklin"/>
                <a:cs typeface="Libre Franklin"/>
                <a:sym typeface="Libre Franklin"/>
              </a:rPr>
              <a:t>The project that EnergiCore seeks to embark on has significant market risks attached, all of which increase probability of default and decrease (RAROC).</a:t>
            </a:r>
            <a:endParaRPr>
              <a:solidFill>
                <a:schemeClr val="dk1"/>
              </a:solidFill>
              <a:latin typeface="Libre Franklin"/>
              <a:ea typeface="Libre Franklin"/>
              <a:cs typeface="Libre Franklin"/>
              <a:sym typeface="Libre Franklin"/>
            </a:endParaRPr>
          </a:p>
          <a:p>
            <a:pPr indent="-317500" lvl="0" marL="457200" rtl="0" algn="l">
              <a:spcBef>
                <a:spcPts val="0"/>
              </a:spcBef>
              <a:spcAft>
                <a:spcPts val="0"/>
              </a:spcAft>
              <a:buClr>
                <a:schemeClr val="dk1"/>
              </a:buClr>
              <a:buSzPts val="1400"/>
              <a:buFont typeface="Libre Franklin"/>
              <a:buChar char="❏"/>
            </a:pPr>
            <a:r>
              <a:rPr lang="en-US">
                <a:solidFill>
                  <a:schemeClr val="dk1"/>
                </a:solidFill>
                <a:latin typeface="Libre Franklin"/>
                <a:ea typeface="Libre Franklin"/>
                <a:cs typeface="Libre Franklin"/>
                <a:sym typeface="Libre Franklin"/>
              </a:rPr>
              <a:t>Due to these unfavourable conditions, and the effect that this loan will have on our credit risk, it is our recommendation to not grant this loan to EnergiCore.</a:t>
            </a:r>
            <a:endParaRPr>
              <a:solidFill>
                <a:schemeClr val="dk1"/>
              </a:solidFill>
              <a:latin typeface="Libre Franklin"/>
              <a:ea typeface="Libre Franklin"/>
              <a:cs typeface="Libre Franklin"/>
              <a:sym typeface="Libre Frankli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6"/>
          <p:cNvSpPr txBox="1"/>
          <p:nvPr>
            <p:ph type="title"/>
          </p:nvPr>
        </p:nvSpPr>
        <p:spPr>
          <a:xfrm>
            <a:off x="514350" y="2988543"/>
            <a:ext cx="11163301" cy="701731"/>
          </a:xfrm>
          <a:prstGeom prst="rect">
            <a:avLst/>
          </a:prstGeom>
          <a:noFill/>
          <a:ln>
            <a:noFill/>
          </a:ln>
        </p:spPr>
        <p:txBody>
          <a:bodyPr anchorCtr="0" anchor="t" bIns="45700" lIns="91425" spcFirstLastPara="1" rIns="91425" wrap="square" tIns="45700">
            <a:spAutoFit/>
          </a:bodyPr>
          <a:lstStyle/>
          <a:p>
            <a:pPr indent="0" lvl="0" marL="0" rtl="0" algn="l">
              <a:lnSpc>
                <a:spcPct val="90000"/>
              </a:lnSpc>
              <a:spcBef>
                <a:spcPts val="0"/>
              </a:spcBef>
              <a:spcAft>
                <a:spcPts val="0"/>
              </a:spcAft>
              <a:buClr>
                <a:srgbClr val="006241"/>
              </a:buClr>
              <a:buSzPts val="4400"/>
              <a:buFont typeface="Libre Franklin"/>
              <a:buNone/>
            </a:pPr>
            <a:r>
              <a:rPr lang="en-US">
                <a:latin typeface="Libre Franklin"/>
                <a:ea typeface="Libre Franklin"/>
                <a:cs typeface="Libre Franklin"/>
                <a:sym typeface="Libre Franklin"/>
              </a:rPr>
              <a:t>Thank You</a:t>
            </a:r>
            <a:endParaRPr/>
          </a:p>
        </p:txBody>
      </p:sp>
      <p:sp>
        <p:nvSpPr>
          <p:cNvPr id="150" name="Google Shape;150;p6"/>
          <p:cNvSpPr txBox="1"/>
          <p:nvPr/>
        </p:nvSpPr>
        <p:spPr>
          <a:xfrm>
            <a:off x="514351" y="6474618"/>
            <a:ext cx="5581649" cy="24468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chemeClr val="dk1"/>
              </a:buClr>
              <a:buSzPts val="1050"/>
              <a:buFont typeface="Arial"/>
              <a:buNone/>
            </a:pPr>
            <a:r>
              <a:rPr lang="en-US" sz="1050">
                <a:solidFill>
                  <a:schemeClr val="dk1"/>
                </a:solidFill>
                <a:latin typeface="Libre Franklin"/>
                <a:ea typeface="Libre Franklin"/>
                <a:cs typeface="Libre Franklin"/>
                <a:sym typeface="Libre Franklin"/>
              </a:rPr>
              <a:t>QYF Virtual Internship </a:t>
            </a:r>
            <a:r>
              <a:rPr b="1" lang="en-US" sz="1050">
                <a:solidFill>
                  <a:schemeClr val="dk1"/>
                </a:solidFill>
                <a:latin typeface="Libre Franklin"/>
                <a:ea typeface="Libre Franklin"/>
                <a:cs typeface="Libre Franklin"/>
                <a:sym typeface="Libre Franklin"/>
              </a:rPr>
              <a:t> </a:t>
            </a:r>
            <a:r>
              <a:rPr b="1" lang="en-US" sz="1050">
                <a:solidFill>
                  <a:srgbClr val="00B050"/>
                </a:solidFill>
                <a:latin typeface="Libre Franklin"/>
                <a:ea typeface="Libre Franklin"/>
                <a:cs typeface="Libre Franklin"/>
                <a:sym typeface="Libre Franklin"/>
              </a:rPr>
              <a:t>6</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Override1.xml><?xml version="1.0" encoding="utf-8"?>
<a:themeOverride xmlns:a="http://schemas.openxmlformats.org/drawingml/2006/main">
  <a:clrScheme name="Nedbank Theme 1">
    <a:dk1>
      <a:srgbClr val="231F20"/>
    </a:dk1>
    <a:lt1>
      <a:srgbClr val="FFFFFF"/>
    </a:lt1>
    <a:dk2>
      <a:srgbClr val="006341"/>
    </a:dk2>
    <a:lt2>
      <a:srgbClr val="CAC4C5"/>
    </a:lt2>
    <a:accent1>
      <a:srgbClr val="009639"/>
    </a:accent1>
    <a:accent2>
      <a:srgbClr val="CEDC00"/>
    </a:accent2>
    <a:accent3>
      <a:srgbClr val="78BE20"/>
    </a:accent3>
    <a:accent4>
      <a:srgbClr val="00B388"/>
    </a:accent4>
    <a:accent5>
      <a:srgbClr val="F2A900"/>
    </a:accent5>
    <a:accent6>
      <a:srgbClr val="00B2A9"/>
    </a:accent6>
    <a:hlink>
      <a:srgbClr val="0070C0"/>
    </a:hlink>
    <a:folHlink>
      <a:srgbClr val="E0EAC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2024-07-02T11:09:25Z</dcterms:created>
  <dc:creator>Horak, N. (Nadia)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b3ff2d6-7c2c-441b-97b8-52c111077da7_Enabled">
    <vt:lpwstr>true</vt:lpwstr>
  </property>
  <property fmtid="{D5CDD505-2E9C-101B-9397-08002B2CF9AE}" pid="3" name="MSIP_Label_fb3ff2d6-7c2c-441b-97b8-52c111077da7_SetDate">
    <vt:lpwstr>2024-07-02T11:52:43Z</vt:lpwstr>
  </property>
  <property fmtid="{D5CDD505-2E9C-101B-9397-08002B2CF9AE}" pid="4" name="MSIP_Label_fb3ff2d6-7c2c-441b-97b8-52c111077da7_Method">
    <vt:lpwstr>Standard</vt:lpwstr>
  </property>
  <property fmtid="{D5CDD505-2E9C-101B-9397-08002B2CF9AE}" pid="5" name="MSIP_Label_fb3ff2d6-7c2c-441b-97b8-52c111077da7_Name">
    <vt:lpwstr>fb3ff2d6-7c2c-441b-97b8-52c111077da7</vt:lpwstr>
  </property>
  <property fmtid="{D5CDD505-2E9C-101B-9397-08002B2CF9AE}" pid="6" name="MSIP_Label_fb3ff2d6-7c2c-441b-97b8-52c111077da7_SiteId">
    <vt:lpwstr>0b1d23d8-10d1-4093-8cb7-fd0bb32f81e1</vt:lpwstr>
  </property>
  <property fmtid="{D5CDD505-2E9C-101B-9397-08002B2CF9AE}" pid="7" name="MSIP_Label_fb3ff2d6-7c2c-441b-97b8-52c111077da7_ActionId">
    <vt:lpwstr>761d515b-9687-4ac0-88fc-a82d592f523c</vt:lpwstr>
  </property>
  <property fmtid="{D5CDD505-2E9C-101B-9397-08002B2CF9AE}" pid="8" name="MSIP_Label_fb3ff2d6-7c2c-441b-97b8-52c111077da7_ContentBits">
    <vt:lpwstr>0</vt:lpwstr>
  </property>
  <property fmtid="{D5CDD505-2E9C-101B-9397-08002B2CF9AE}" pid="9" name="ContentTypeId">
    <vt:lpwstr>0x010100757983235A7B0C4E9DAF059E52CA6312</vt:lpwstr>
  </property>
  <property fmtid="{D5CDD505-2E9C-101B-9397-08002B2CF9AE}" pid="10" name="MediaServiceImageTags">
    <vt:lpwstr/>
  </property>
</Properties>
</file>